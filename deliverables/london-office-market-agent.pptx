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question: Why does this matter? The assessment calls for a runnable Python PoC and a 3-6 slide business deck. The value proposition is a traceable basis for discussion, without claiming measured time savings or investment advice. Vacancy means empty space; take-up means space leased. Coverage depends on accessible reports.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question: Which decision will this support? Preserve the three existing workflows, but frame each around its business use. Monitor needs a comparison period or a saved refresh baseline. Investigate tests a hypothesis and may return insufficient evidence. Prepare returns up to five dated developments when coverage supports them. Higher rent alone does not establish outperformance.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question: How does it work? This is a simplified logical workflow, not a literal sequence of one-time calls. The agent can retrieve, search and read again as needed within bounded calls. Supplied text can be ingested through the API; the PoC does not provide a general document-upload interface or private-data connector. Stored evidence uses semantic retrieval; validated numerical metrics use SQLite and deterministic calculations. Verification catches some citation and numerical errors; it does not guarantee source truth or every inference. Provider controls are omitted because they do not help the executive decision.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question: What do I receive? This is an edited excerpt from the actual 10 September 2026 run in deliverables/live-run.json, not a new model answer or an independently verified market assertion. Slide citation [1] maps to run citation [1]; slide [2] maps to run [3]. Links open the publishers. The run took about 105 seconds and returned a partial brief after a claim failed checks. Its missing overall synthesis is preserved visibly. The missing Knight Frank Q2 table was a retrieval limitation, not proof that the publisher did not report rents. Normally the opening brief connects findings, followed by detail and evidence. This example demonstrates a useful supported finding while keeping the unresolved comparison explicit.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question: Why should we trust it? These are review controls, not a guarantee. Numerical comparisons need compatible inputs. Different definitions can explain apparent disagreements; genuine disagreements stay separate. Unknown dates remain unknown. Unsupported claims may be omitted, and responses may be partial or evidence-only. Source quotations and calculation inputs provide an audit path. The example on slide 4 shows why comparing unlike periods can mislead.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question: How do we adopt it? This is a working, bounded research PoC. Choose one recurring question, assign a reviewer and compare the workflow with the team's current process. Refresh is manual; first use creates a baseline. Source access and reporting dates constrain coverage. It does not provide guaranteed forecasts or unattended monitoring. Documents and briefs persist, while conversation context is in memory. Expand scope only after the pilot demonstrates a need. No measured time savings are claimed. README contains operator setup and validation instructions.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avills.co.uk/research_articles/229130/393427-0/central-london-office-market-watch-q2-2026" TargetMode="External"/><Relationship Id="rId3" Type="http://schemas.openxmlformats.org/officeDocument/2006/relationships/hyperlink" Target="https://www.knightfrank.co.uk/site-assets/research/report-pdfs/lomr/lomr-q4-2025_final.pdf"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331"/>
        </a:solidFill>
        <a:effectLst/>
      </p:bgPr>
    </p:bg>
    <p:spTree>
      <p:nvGrpSpPr>
        <p:cNvPr id="1" name=""/>
        <p:cNvGrpSpPr/>
        <p:nvPr/>
      </p:nvGrpSpPr>
      <p:grpSpPr/>
      <p:sp>
        <p:nvSpPr>
          <p:cNvPr id="2" name="TextBox 1"/>
          <p:cNvSpPr txBox="1"/>
          <p:nvPr/>
        </p:nvSpPr>
        <p:spPr>
          <a:xfrm>
            <a:off x="594360" y="329184"/>
            <a:ext cx="9144000" cy="201168"/>
          </a:xfrm>
          <a:prstGeom prst="rect">
            <a:avLst/>
          </a:prstGeom>
          <a:noFill/>
        </p:spPr>
        <p:txBody>
          <a:bodyPr wrap="square" lIns="18288" rIns="18288" tIns="0" bIns="0" anchor="t">
            <a:spAutoFit/>
          </a:bodyPr>
          <a:lstStyle/>
          <a:p>
            <a:pPr>
              <a:spcAft>
                <a:spcPts val="800"/>
              </a:spcAft>
            </a:pPr>
            <a:r>
              <a:rPr sz="1000" b="1">
                <a:solidFill>
                  <a:srgbClr val="ADDAD1"/>
                </a:solidFill>
                <a:latin typeface="Arial"/>
              </a:rPr>
              <a:t>LONDON MARKET MONITOR  /  PROBLEM</a:t>
            </a:r>
          </a:p>
        </p:txBody>
      </p:sp>
      <p:sp>
        <p:nvSpPr>
          <p:cNvPr id="3" name="TextBox 2"/>
          <p:cNvSpPr txBox="1"/>
          <p:nvPr/>
        </p:nvSpPr>
        <p:spPr>
          <a:xfrm>
            <a:off x="594360" y="877824"/>
            <a:ext cx="10972800" cy="1051560"/>
          </a:xfrm>
          <a:prstGeom prst="rect">
            <a:avLst/>
          </a:prstGeom>
          <a:noFill/>
        </p:spPr>
        <p:txBody>
          <a:bodyPr wrap="square" lIns="18288" rIns="18288" tIns="0" bIns="0" anchor="t">
            <a:spAutoFit/>
          </a:bodyPr>
          <a:lstStyle/>
          <a:p>
            <a:pPr>
              <a:spcAft>
                <a:spcPts val="800"/>
              </a:spcAft>
            </a:pPr>
            <a:r>
              <a:rPr sz="2900" b="1">
                <a:solidFill>
                  <a:srgbClr val="FFFDF8"/>
                </a:solidFill>
                <a:latin typeface="Arial"/>
              </a:rPr>
              <a:t>Turn London office market noise into a</a:t>
            </a:r>
          </a:p>
          <a:p>
            <a:pPr>
              <a:spcAft>
                <a:spcPts val="800"/>
              </a:spcAft>
            </a:pPr>
            <a:r>
              <a:rPr sz="2900" b="1">
                <a:solidFill>
                  <a:srgbClr val="FFFDF8"/>
                </a:solidFill>
                <a:latin typeface="Arial"/>
              </a:rPr>
              <a:t>cited, decision-ready brief</a:t>
            </a:r>
          </a:p>
        </p:txBody>
      </p:sp>
      <p:sp>
        <p:nvSpPr>
          <p:cNvPr id="4" name="TextBox 3"/>
          <p:cNvSpPr txBox="1"/>
          <p:nvPr/>
        </p:nvSpPr>
        <p:spPr>
          <a:xfrm>
            <a:off x="612648" y="2011680"/>
            <a:ext cx="10881360" cy="594360"/>
          </a:xfrm>
          <a:prstGeom prst="rect">
            <a:avLst/>
          </a:prstGeom>
          <a:noFill/>
        </p:spPr>
        <p:txBody>
          <a:bodyPr wrap="square" lIns="18288" rIns="18288" tIns="0" bIns="0" anchor="t">
            <a:spAutoFit/>
          </a:bodyPr>
          <a:lstStyle/>
          <a:p>
            <a:pPr>
              <a:spcAft>
                <a:spcPts val="800"/>
              </a:spcAft>
            </a:pPr>
            <a:r>
              <a:rPr sz="1700" b="0">
                <a:solidFill>
                  <a:srgbClr val="ADDAD1"/>
                </a:solidFill>
                <a:latin typeface="Arial"/>
              </a:rPr>
              <a:t>The challenge is turning fragmented evidence into a defensible meeting position.</a:t>
            </a:r>
          </a:p>
        </p:txBody>
      </p:sp>
      <p:sp>
        <p:nvSpPr>
          <p:cNvPr id="5" name="TextBox 4"/>
          <p:cNvSpPr txBox="1"/>
          <p:nvPr/>
        </p:nvSpPr>
        <p:spPr>
          <a:xfrm>
            <a:off x="612648" y="6419088"/>
            <a:ext cx="9601200" cy="201168"/>
          </a:xfrm>
          <a:prstGeom prst="rect">
            <a:avLst/>
          </a:prstGeom>
          <a:noFill/>
        </p:spPr>
        <p:txBody>
          <a:bodyPr wrap="square" lIns="18288" rIns="18288" tIns="0" bIns="0" anchor="t">
            <a:spAutoFit/>
          </a:bodyPr>
          <a:lstStyle/>
          <a:p>
            <a:pPr>
              <a:spcAft>
                <a:spcPts val="800"/>
              </a:spcAft>
            </a:pPr>
            <a:r>
              <a:rPr sz="900" b="0">
                <a:solidFill>
                  <a:srgbClr val="ADDAD1"/>
                </a:solidFill>
                <a:latin typeface="Arial"/>
              </a:rPr>
              <a:t>EXECUTIVE DECISION BRIEF  |  10 SEPTEMBER 2026</a:t>
            </a:r>
          </a:p>
        </p:txBody>
      </p:sp>
      <p:sp>
        <p:nvSpPr>
          <p:cNvPr id="6" name="TextBox 5"/>
          <p:cNvSpPr txBox="1"/>
          <p:nvPr/>
        </p:nvSpPr>
        <p:spPr>
          <a:xfrm>
            <a:off x="10972800" y="6400800"/>
            <a:ext cx="640080" cy="219456"/>
          </a:xfrm>
          <a:prstGeom prst="rect">
            <a:avLst/>
          </a:prstGeom>
          <a:noFill/>
        </p:spPr>
        <p:txBody>
          <a:bodyPr wrap="square" lIns="18288" rIns="18288" tIns="0" bIns="0" anchor="t">
            <a:spAutoFit/>
          </a:bodyPr>
          <a:lstStyle/>
          <a:p>
            <a:pPr>
              <a:spcAft>
                <a:spcPts val="800"/>
              </a:spcAft>
            </a:pPr>
            <a:r>
              <a:rPr sz="1000" b="0">
                <a:solidFill>
                  <a:srgbClr val="ADDAD1"/>
                </a:solidFill>
                <a:latin typeface="Arial"/>
              </a:rPr>
              <a:t>01 / 06</a:t>
            </a:r>
          </a:p>
        </p:txBody>
      </p:sp>
      <p:sp>
        <p:nvSpPr>
          <p:cNvPr id="7" name="Rectangle 6"/>
          <p:cNvSpPr/>
          <p:nvPr/>
        </p:nvSpPr>
        <p:spPr>
          <a:xfrm>
            <a:off x="640080" y="2606040"/>
            <a:ext cx="3566160" cy="2331720"/>
          </a:xfrm>
          <a:prstGeom prst="rect">
            <a:avLst/>
          </a:prstGeom>
          <a:solidFill>
            <a:srgbClr val="193340"/>
          </a:solidFill>
          <a:ln>
            <a:solidFill>
              <a:srgbClr val="385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816352"/>
            <a:ext cx="3154680" cy="365760"/>
          </a:xfrm>
          <a:prstGeom prst="rect">
            <a:avLst/>
          </a:prstGeom>
          <a:noFill/>
        </p:spPr>
        <p:txBody>
          <a:bodyPr wrap="square" lIns="18288" rIns="18288" tIns="0" bIns="0" anchor="t">
            <a:spAutoFit/>
          </a:bodyPr>
          <a:lstStyle/>
          <a:p>
            <a:pPr>
              <a:spcAft>
                <a:spcPts val="800"/>
              </a:spcAft>
            </a:pPr>
            <a:r>
              <a:rPr sz="1900" b="1">
                <a:solidFill>
                  <a:srgbClr val="ADDAD1"/>
                </a:solidFill>
                <a:latin typeface="Arial"/>
              </a:rPr>
              <a:t>Fragmented evidence</a:t>
            </a:r>
          </a:p>
        </p:txBody>
      </p:sp>
      <p:sp>
        <p:nvSpPr>
          <p:cNvPr id="9" name="TextBox 8"/>
          <p:cNvSpPr txBox="1"/>
          <p:nvPr/>
        </p:nvSpPr>
        <p:spPr>
          <a:xfrm>
            <a:off x="841247" y="3383280"/>
            <a:ext cx="3127248" cy="1325880"/>
          </a:xfrm>
          <a:prstGeom prst="rect">
            <a:avLst/>
          </a:prstGeom>
          <a:noFill/>
        </p:spPr>
        <p:txBody>
          <a:bodyPr wrap="square" lIns="18288" rIns="18288" tIns="0" bIns="0" anchor="t">
            <a:spAutoFit/>
          </a:bodyPr>
          <a:lstStyle/>
          <a:p>
            <a:pPr>
              <a:spcAft>
                <a:spcPts val="800"/>
              </a:spcAft>
            </a:pPr>
            <a:r>
              <a:rPr sz="1800" b="0">
                <a:solidFill>
                  <a:srgbClr val="FFFDF8"/>
                </a:solidFill>
                <a:latin typeface="Arial"/>
              </a:rPr>
              <a:t>Broker reports, market news and economic signals arrive in different formats and periods.</a:t>
            </a:r>
          </a:p>
        </p:txBody>
      </p:sp>
      <p:sp>
        <p:nvSpPr>
          <p:cNvPr id="10" name="Rectangle 9"/>
          <p:cNvSpPr/>
          <p:nvPr/>
        </p:nvSpPr>
        <p:spPr>
          <a:xfrm>
            <a:off x="4434840" y="2606040"/>
            <a:ext cx="3566160" cy="2331720"/>
          </a:xfrm>
          <a:prstGeom prst="rect">
            <a:avLst/>
          </a:prstGeom>
          <a:solidFill>
            <a:srgbClr val="193340"/>
          </a:solidFill>
          <a:ln>
            <a:solidFill>
              <a:srgbClr val="385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816352"/>
            <a:ext cx="3154680" cy="365760"/>
          </a:xfrm>
          <a:prstGeom prst="rect">
            <a:avLst/>
          </a:prstGeom>
          <a:noFill/>
        </p:spPr>
        <p:txBody>
          <a:bodyPr wrap="square" lIns="18288" rIns="18288" tIns="0" bIns="0" anchor="t">
            <a:spAutoFit/>
          </a:bodyPr>
          <a:lstStyle/>
          <a:p>
            <a:pPr>
              <a:spcAft>
                <a:spcPts val="800"/>
              </a:spcAft>
            </a:pPr>
            <a:r>
              <a:rPr sz="1900" b="1">
                <a:solidFill>
                  <a:srgbClr val="ADDAD1"/>
                </a:solidFill>
                <a:latin typeface="Arial"/>
              </a:rPr>
              <a:t>Decision risk</a:t>
            </a:r>
          </a:p>
        </p:txBody>
      </p:sp>
      <p:sp>
        <p:nvSpPr>
          <p:cNvPr id="12" name="TextBox 11"/>
          <p:cNvSpPr txBox="1"/>
          <p:nvPr/>
        </p:nvSpPr>
        <p:spPr>
          <a:xfrm>
            <a:off x="4636008" y="3383280"/>
            <a:ext cx="3127248" cy="1325880"/>
          </a:xfrm>
          <a:prstGeom prst="rect">
            <a:avLst/>
          </a:prstGeom>
          <a:noFill/>
        </p:spPr>
        <p:txBody>
          <a:bodyPr wrap="square" lIns="18288" rIns="18288" tIns="0" bIns="0" anchor="t">
            <a:spAutoFit/>
          </a:bodyPr>
          <a:lstStyle/>
          <a:p>
            <a:pPr>
              <a:spcAft>
                <a:spcPts val="800"/>
              </a:spcAft>
            </a:pPr>
            <a:r>
              <a:rPr sz="1800" b="0">
                <a:solidFill>
                  <a:srgbClr val="FFFDF8"/>
                </a:solidFill>
                <a:latin typeface="Arial"/>
              </a:rPr>
              <a:t>A headline rent or isolated deal can obscure the wider picture of demand, supply and vacancy.</a:t>
            </a:r>
          </a:p>
        </p:txBody>
      </p:sp>
      <p:sp>
        <p:nvSpPr>
          <p:cNvPr id="13" name="Rectangle 12"/>
          <p:cNvSpPr/>
          <p:nvPr/>
        </p:nvSpPr>
        <p:spPr>
          <a:xfrm>
            <a:off x="8229600" y="2606040"/>
            <a:ext cx="3566160" cy="2331720"/>
          </a:xfrm>
          <a:prstGeom prst="rect">
            <a:avLst/>
          </a:prstGeom>
          <a:solidFill>
            <a:srgbClr val="193340"/>
          </a:solidFill>
          <a:ln>
            <a:solidFill>
              <a:srgbClr val="385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30768" y="2816352"/>
            <a:ext cx="3154680" cy="365760"/>
          </a:xfrm>
          <a:prstGeom prst="rect">
            <a:avLst/>
          </a:prstGeom>
          <a:noFill/>
        </p:spPr>
        <p:txBody>
          <a:bodyPr wrap="square" lIns="18288" rIns="18288" tIns="0" bIns="0" anchor="t">
            <a:spAutoFit/>
          </a:bodyPr>
          <a:lstStyle/>
          <a:p>
            <a:pPr>
              <a:spcAft>
                <a:spcPts val="800"/>
              </a:spcAft>
            </a:pPr>
            <a:r>
              <a:rPr sz="1900" b="1">
                <a:solidFill>
                  <a:srgbClr val="ADDAD1"/>
                </a:solidFill>
                <a:latin typeface="Arial"/>
              </a:rPr>
              <a:t>A clearer position</a:t>
            </a:r>
          </a:p>
        </p:txBody>
      </p:sp>
      <p:sp>
        <p:nvSpPr>
          <p:cNvPr id="15" name="TextBox 14"/>
          <p:cNvSpPr txBox="1"/>
          <p:nvPr/>
        </p:nvSpPr>
        <p:spPr>
          <a:xfrm>
            <a:off x="8430768" y="3383280"/>
            <a:ext cx="3127248" cy="1325880"/>
          </a:xfrm>
          <a:prstGeom prst="rect">
            <a:avLst/>
          </a:prstGeom>
          <a:noFill/>
        </p:spPr>
        <p:txBody>
          <a:bodyPr wrap="square" lIns="18288" rIns="18288" tIns="0" bIns="0" anchor="t">
            <a:spAutoFit/>
          </a:bodyPr>
          <a:lstStyle/>
          <a:p>
            <a:pPr>
              <a:spcAft>
                <a:spcPts val="800"/>
              </a:spcAft>
            </a:pPr>
            <a:r>
              <a:rPr sz="1800" b="0">
                <a:solidFill>
                  <a:srgbClr val="FFFDF8"/>
                </a:solidFill>
                <a:latin typeface="Arial"/>
              </a:rPr>
              <a:t>Bring the takeaway, supporting sources and unresolved questions into the same conversation.</a:t>
            </a:r>
          </a:p>
        </p:txBody>
      </p:sp>
      <p:sp>
        <p:nvSpPr>
          <p:cNvPr id="16" name="TextBox 15"/>
          <p:cNvSpPr txBox="1"/>
          <p:nvPr/>
        </p:nvSpPr>
        <p:spPr>
          <a:xfrm>
            <a:off x="658368" y="5349240"/>
            <a:ext cx="10789920" cy="365760"/>
          </a:xfrm>
          <a:prstGeom prst="rect">
            <a:avLst/>
          </a:prstGeom>
          <a:noFill/>
        </p:spPr>
        <p:txBody>
          <a:bodyPr wrap="square" lIns="18288" rIns="18288" tIns="0" bIns="0" anchor="t">
            <a:spAutoFit/>
          </a:bodyPr>
          <a:lstStyle/>
          <a:p>
            <a:pPr>
              <a:spcAft>
                <a:spcPts val="800"/>
              </a:spcAft>
            </a:pPr>
            <a:r>
              <a:rPr sz="1900" b="0">
                <a:solidFill>
                  <a:srgbClr val="FFFDF8"/>
                </a:solidFill>
                <a:latin typeface="Arial"/>
              </a:rPr>
              <a:t>Rents  /  Vacancy  /  Leasing demand  /  New supply  /  Economic drivers</a:t>
            </a:r>
          </a:p>
        </p:txBody>
      </p:sp>
      <p:sp>
        <p:nvSpPr>
          <p:cNvPr id="17" name="TextBox 16"/>
          <p:cNvSpPr txBox="1"/>
          <p:nvPr/>
        </p:nvSpPr>
        <p:spPr>
          <a:xfrm>
            <a:off x="658368" y="5852160"/>
            <a:ext cx="10789920" cy="274320"/>
          </a:xfrm>
          <a:prstGeom prst="rect">
            <a:avLst/>
          </a:prstGeom>
          <a:noFill/>
        </p:spPr>
        <p:txBody>
          <a:bodyPr wrap="square" lIns="18288" rIns="18288" tIns="0" bIns="0" anchor="t">
            <a:spAutoFit/>
          </a:bodyPr>
          <a:lstStyle/>
          <a:p>
            <a:pPr>
              <a:spcAft>
                <a:spcPts val="800"/>
              </a:spcAft>
            </a:pPr>
            <a:r>
              <a:rPr sz="1600" b="0">
                <a:solidFill>
                  <a:srgbClr val="ADDAD1"/>
                </a:solidFill>
                <a:latin typeface="Arial"/>
              </a:rPr>
              <a:t>London focus: City, West End, Canary Wharf and Midtown / Fringe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594360" y="329184"/>
            <a:ext cx="9144000" cy="201168"/>
          </a:xfrm>
          <a:prstGeom prst="rect">
            <a:avLst/>
          </a:prstGeom>
          <a:noFill/>
        </p:spPr>
        <p:txBody>
          <a:bodyPr wrap="square" lIns="18288" rIns="18288" tIns="0" bIns="0" anchor="t">
            <a:spAutoFit/>
          </a:bodyPr>
          <a:lstStyle/>
          <a:p>
            <a:pPr>
              <a:spcAft>
                <a:spcPts val="800"/>
              </a:spcAft>
            </a:pPr>
            <a:r>
              <a:rPr sz="1000" b="1">
                <a:solidFill>
                  <a:srgbClr val="1B8077"/>
                </a:solidFill>
                <a:latin typeface="Arial"/>
              </a:rPr>
              <a:t>LONDON MARKET MONITOR  /  DECISION</a:t>
            </a:r>
          </a:p>
        </p:txBody>
      </p:sp>
      <p:sp>
        <p:nvSpPr>
          <p:cNvPr id="3" name="TextBox 2"/>
          <p:cNvSpPr txBox="1"/>
          <p:nvPr/>
        </p:nvSpPr>
        <p:spPr>
          <a:xfrm>
            <a:off x="594360" y="877824"/>
            <a:ext cx="10972800" cy="1051560"/>
          </a:xfrm>
          <a:prstGeom prst="rect">
            <a:avLst/>
          </a:prstGeom>
          <a:noFill/>
        </p:spPr>
        <p:txBody>
          <a:bodyPr wrap="square" lIns="18288" rIns="18288" tIns="0" bIns="0" anchor="t">
            <a:spAutoFit/>
          </a:bodyPr>
          <a:lstStyle/>
          <a:p>
            <a:pPr>
              <a:spcAft>
                <a:spcPts val="800"/>
              </a:spcAft>
            </a:pPr>
            <a:r>
              <a:rPr sz="2900" b="1">
                <a:solidFill>
                  <a:srgbClr val="102331"/>
                </a:solidFill>
                <a:latin typeface="Arial"/>
              </a:rPr>
              <a:t>Start with the decision you need to prepare for</a:t>
            </a:r>
          </a:p>
        </p:txBody>
      </p:sp>
      <p:sp>
        <p:nvSpPr>
          <p:cNvPr id="4" name="TextBox 3"/>
          <p:cNvSpPr txBox="1"/>
          <p:nvPr/>
        </p:nvSpPr>
        <p:spPr>
          <a:xfrm>
            <a:off x="612648" y="1691640"/>
            <a:ext cx="10881360" cy="59436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Define the business question, the market and the period before assessing the evidence.</a:t>
            </a:r>
          </a:p>
        </p:txBody>
      </p:sp>
      <p:sp>
        <p:nvSpPr>
          <p:cNvPr id="5" name="TextBox 4"/>
          <p:cNvSpPr txBox="1"/>
          <p:nvPr/>
        </p:nvSpPr>
        <p:spPr>
          <a:xfrm>
            <a:off x="612648" y="6419088"/>
            <a:ext cx="9601200" cy="201168"/>
          </a:xfrm>
          <a:prstGeom prst="rect">
            <a:avLst/>
          </a:prstGeom>
          <a:noFill/>
        </p:spPr>
        <p:txBody>
          <a:bodyPr wrap="square" lIns="18288" rIns="18288" tIns="0" bIns="0" anchor="t">
            <a:spAutoFit/>
          </a:bodyPr>
          <a:lstStyle/>
          <a:p>
            <a:pPr>
              <a:spcAft>
                <a:spcPts val="800"/>
              </a:spcAft>
            </a:pPr>
            <a:r>
              <a:rPr sz="900" b="0">
                <a:solidFill>
                  <a:srgbClr val="52676D"/>
                </a:solidFill>
                <a:latin typeface="Arial"/>
              </a:rPr>
              <a:t>EXECUTIVE DECISION BRIEF  |  10 SEPTEMBER 2026</a:t>
            </a:r>
          </a:p>
        </p:txBody>
      </p:sp>
      <p:sp>
        <p:nvSpPr>
          <p:cNvPr id="6" name="TextBox 5"/>
          <p:cNvSpPr txBox="1"/>
          <p:nvPr/>
        </p:nvSpPr>
        <p:spPr>
          <a:xfrm>
            <a:off x="10972800" y="6400800"/>
            <a:ext cx="640080" cy="219456"/>
          </a:xfrm>
          <a:prstGeom prst="rect">
            <a:avLst/>
          </a:prstGeom>
          <a:noFill/>
        </p:spPr>
        <p:txBody>
          <a:bodyPr wrap="square" lIns="18288" rIns="18288" tIns="0" bIns="0" anchor="t">
            <a:spAutoFit/>
          </a:bodyPr>
          <a:lstStyle/>
          <a:p>
            <a:pPr>
              <a:spcAft>
                <a:spcPts val="800"/>
              </a:spcAft>
            </a:pPr>
            <a:r>
              <a:rPr sz="1000" b="0">
                <a:solidFill>
                  <a:srgbClr val="52676D"/>
                </a:solidFill>
                <a:latin typeface="Arial"/>
              </a:rPr>
              <a:t>02 / 06</a:t>
            </a:r>
          </a:p>
        </p:txBody>
      </p:sp>
      <p:sp>
        <p:nvSpPr>
          <p:cNvPr id="7" name="Rectangle 6"/>
          <p:cNvSpPr/>
          <p:nvPr/>
        </p:nvSpPr>
        <p:spPr>
          <a:xfrm>
            <a:off x="640080" y="2514600"/>
            <a:ext cx="3566160" cy="347472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743200"/>
            <a:ext cx="3108960" cy="228600"/>
          </a:xfrm>
          <a:prstGeom prst="rect">
            <a:avLst/>
          </a:prstGeom>
          <a:noFill/>
        </p:spPr>
        <p:txBody>
          <a:bodyPr wrap="square" lIns="18288" rIns="18288" tIns="0" bIns="0" anchor="t">
            <a:spAutoFit/>
          </a:bodyPr>
          <a:lstStyle/>
          <a:p>
            <a:pPr>
              <a:spcAft>
                <a:spcPts val="800"/>
              </a:spcAft>
            </a:pPr>
            <a:r>
              <a:rPr sz="1100" b="1">
                <a:solidFill>
                  <a:srgbClr val="1B8077"/>
                </a:solidFill>
                <a:latin typeface="Arial"/>
              </a:rPr>
              <a:t>MONITOR</a:t>
            </a:r>
          </a:p>
        </p:txBody>
      </p:sp>
      <p:sp>
        <p:nvSpPr>
          <p:cNvPr id="9" name="TextBox 8"/>
          <p:cNvSpPr txBox="1"/>
          <p:nvPr/>
        </p:nvSpPr>
        <p:spPr>
          <a:xfrm>
            <a:off x="859536" y="3136392"/>
            <a:ext cx="3108960" cy="640080"/>
          </a:xfrm>
          <a:prstGeom prst="rect">
            <a:avLst/>
          </a:prstGeom>
          <a:noFill/>
        </p:spPr>
        <p:txBody>
          <a:bodyPr wrap="square" lIns="18288" rIns="18288" tIns="0" bIns="0" anchor="t">
            <a:spAutoFit/>
          </a:bodyPr>
          <a:lstStyle/>
          <a:p>
            <a:pPr>
              <a:spcAft>
                <a:spcPts val="800"/>
              </a:spcAft>
            </a:pPr>
            <a:r>
              <a:rPr sz="2300" b="1">
                <a:solidFill>
                  <a:srgbClr val="102331"/>
                </a:solidFill>
                <a:latin typeface="Arial"/>
              </a:rPr>
              <a:t>Reset priorities</a:t>
            </a:r>
          </a:p>
        </p:txBody>
      </p:sp>
      <p:sp>
        <p:nvSpPr>
          <p:cNvPr id="10" name="TextBox 9"/>
          <p:cNvSpPr txBox="1"/>
          <p:nvPr/>
        </p:nvSpPr>
        <p:spPr>
          <a:xfrm>
            <a:off x="859536" y="3959352"/>
            <a:ext cx="3108960" cy="777240"/>
          </a:xfrm>
          <a:prstGeom prst="rect">
            <a:avLst/>
          </a:prstGeom>
          <a:noFill/>
        </p:spPr>
        <p:txBody>
          <a:bodyPr wrap="square" lIns="18288" rIns="18288" tIns="0" bIns="0" anchor="t">
            <a:spAutoFit/>
          </a:bodyPr>
          <a:lstStyle/>
          <a:p>
            <a:pPr>
              <a:spcAft>
                <a:spcPts val="800"/>
              </a:spcAft>
            </a:pPr>
            <a:r>
              <a:rPr sz="1900" b="0">
                <a:solidFill>
                  <a:srgbClr val="102331"/>
                </a:solidFill>
                <a:latin typeface="Arial"/>
              </a:rPr>
              <a:t>What changed versus the previous quarter?</a:t>
            </a:r>
          </a:p>
        </p:txBody>
      </p:sp>
      <p:sp>
        <p:nvSpPr>
          <p:cNvPr id="11" name="TextBox 10"/>
          <p:cNvSpPr txBox="1"/>
          <p:nvPr/>
        </p:nvSpPr>
        <p:spPr>
          <a:xfrm>
            <a:off x="859536" y="4956048"/>
            <a:ext cx="3108960" cy="86868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Identify material movements and decide what needs attention.</a:t>
            </a:r>
          </a:p>
        </p:txBody>
      </p:sp>
      <p:sp>
        <p:nvSpPr>
          <p:cNvPr id="12" name="Rectangle 11"/>
          <p:cNvSpPr/>
          <p:nvPr/>
        </p:nvSpPr>
        <p:spPr>
          <a:xfrm>
            <a:off x="4434840" y="2514600"/>
            <a:ext cx="3566160" cy="347472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2743200"/>
            <a:ext cx="3108960" cy="228600"/>
          </a:xfrm>
          <a:prstGeom prst="rect">
            <a:avLst/>
          </a:prstGeom>
          <a:noFill/>
        </p:spPr>
        <p:txBody>
          <a:bodyPr wrap="square" lIns="18288" rIns="18288" tIns="0" bIns="0" anchor="t">
            <a:spAutoFit/>
          </a:bodyPr>
          <a:lstStyle/>
          <a:p>
            <a:pPr>
              <a:spcAft>
                <a:spcPts val="800"/>
              </a:spcAft>
            </a:pPr>
            <a:r>
              <a:rPr sz="1100" b="1">
                <a:solidFill>
                  <a:srgbClr val="1B8077"/>
                </a:solidFill>
                <a:latin typeface="Arial"/>
              </a:rPr>
              <a:t>INVESTIGATE</a:t>
            </a:r>
          </a:p>
        </p:txBody>
      </p:sp>
      <p:sp>
        <p:nvSpPr>
          <p:cNvPr id="14" name="TextBox 13"/>
          <p:cNvSpPr txBox="1"/>
          <p:nvPr/>
        </p:nvSpPr>
        <p:spPr>
          <a:xfrm>
            <a:off x="4654296" y="3136392"/>
            <a:ext cx="3108960" cy="640080"/>
          </a:xfrm>
          <a:prstGeom prst="rect">
            <a:avLst/>
          </a:prstGeom>
          <a:noFill/>
        </p:spPr>
        <p:txBody>
          <a:bodyPr wrap="square" lIns="18288" rIns="18288" tIns="0" bIns="0" anchor="t">
            <a:spAutoFit/>
          </a:bodyPr>
          <a:lstStyle/>
          <a:p>
            <a:pPr>
              <a:spcAft>
                <a:spcPts val="800"/>
              </a:spcAft>
            </a:pPr>
            <a:r>
              <a:rPr sz="2300" b="1">
                <a:solidFill>
                  <a:srgbClr val="102331"/>
                </a:solidFill>
                <a:latin typeface="Arial"/>
              </a:rPr>
              <a:t>Challenge a view</a:t>
            </a:r>
          </a:p>
        </p:txBody>
      </p:sp>
      <p:sp>
        <p:nvSpPr>
          <p:cNvPr id="15" name="TextBox 14"/>
          <p:cNvSpPr txBox="1"/>
          <p:nvPr/>
        </p:nvSpPr>
        <p:spPr>
          <a:xfrm>
            <a:off x="4654296" y="3959352"/>
            <a:ext cx="3108960" cy="777240"/>
          </a:xfrm>
          <a:prstGeom prst="rect">
            <a:avLst/>
          </a:prstGeom>
          <a:noFill/>
        </p:spPr>
        <p:txBody>
          <a:bodyPr wrap="square" lIns="18288" rIns="18288" tIns="0" bIns="0" anchor="t">
            <a:spAutoFit/>
          </a:bodyPr>
          <a:lstStyle/>
          <a:p>
            <a:pPr>
              <a:spcAft>
                <a:spcPts val="800"/>
              </a:spcAft>
            </a:pPr>
            <a:r>
              <a:rPr sz="1900" b="0">
                <a:solidFill>
                  <a:srgbClr val="102331"/>
                </a:solidFill>
                <a:latin typeface="Arial"/>
              </a:rPr>
              <a:t>Is West End outperforming City?</a:t>
            </a:r>
          </a:p>
        </p:txBody>
      </p:sp>
      <p:sp>
        <p:nvSpPr>
          <p:cNvPr id="16" name="TextBox 15"/>
          <p:cNvSpPr txBox="1"/>
          <p:nvPr/>
        </p:nvSpPr>
        <p:spPr>
          <a:xfrm>
            <a:off x="4654296" y="4956048"/>
            <a:ext cx="3108960" cy="86868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Test the evidence for and against a view before adopting it.</a:t>
            </a:r>
          </a:p>
        </p:txBody>
      </p:sp>
      <p:sp>
        <p:nvSpPr>
          <p:cNvPr id="17" name="Rectangle 16"/>
          <p:cNvSpPr/>
          <p:nvPr/>
        </p:nvSpPr>
        <p:spPr>
          <a:xfrm>
            <a:off x="8229600" y="2514600"/>
            <a:ext cx="3566160" cy="347472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49056" y="2743200"/>
            <a:ext cx="3108960" cy="228600"/>
          </a:xfrm>
          <a:prstGeom prst="rect">
            <a:avLst/>
          </a:prstGeom>
          <a:noFill/>
        </p:spPr>
        <p:txBody>
          <a:bodyPr wrap="square" lIns="18288" rIns="18288" tIns="0" bIns="0" anchor="t">
            <a:spAutoFit/>
          </a:bodyPr>
          <a:lstStyle/>
          <a:p>
            <a:pPr>
              <a:spcAft>
                <a:spcPts val="800"/>
              </a:spcAft>
            </a:pPr>
            <a:r>
              <a:rPr sz="1100" b="1">
                <a:solidFill>
                  <a:srgbClr val="1B8077"/>
                </a:solidFill>
                <a:latin typeface="Arial"/>
              </a:rPr>
              <a:t>PREPARE</a:t>
            </a:r>
          </a:p>
        </p:txBody>
      </p:sp>
      <p:sp>
        <p:nvSpPr>
          <p:cNvPr id="19" name="TextBox 18"/>
          <p:cNvSpPr txBox="1"/>
          <p:nvPr/>
        </p:nvSpPr>
        <p:spPr>
          <a:xfrm>
            <a:off x="8449056" y="3136392"/>
            <a:ext cx="3108960" cy="640080"/>
          </a:xfrm>
          <a:prstGeom prst="rect">
            <a:avLst/>
          </a:prstGeom>
          <a:noFill/>
        </p:spPr>
        <p:txBody>
          <a:bodyPr wrap="square" lIns="18288" rIns="18288" tIns="0" bIns="0" anchor="t">
            <a:spAutoFit/>
          </a:bodyPr>
          <a:lstStyle/>
          <a:p>
            <a:pPr>
              <a:spcAft>
                <a:spcPts val="800"/>
              </a:spcAft>
            </a:pPr>
            <a:r>
              <a:rPr sz="2300" b="1">
                <a:solidFill>
                  <a:srgbClr val="102331"/>
                </a:solidFill>
                <a:latin typeface="Arial"/>
              </a:rPr>
              <a:t>Align the team</a:t>
            </a:r>
          </a:p>
        </p:txBody>
      </p:sp>
      <p:sp>
        <p:nvSpPr>
          <p:cNvPr id="20" name="TextBox 19"/>
          <p:cNvSpPr txBox="1"/>
          <p:nvPr/>
        </p:nvSpPr>
        <p:spPr>
          <a:xfrm>
            <a:off x="8449056" y="3959352"/>
            <a:ext cx="3108960" cy="777240"/>
          </a:xfrm>
          <a:prstGeom prst="rect">
            <a:avLst/>
          </a:prstGeom>
          <a:noFill/>
        </p:spPr>
        <p:txBody>
          <a:bodyPr wrap="square" lIns="18288" rIns="18288" tIns="0" bIns="0" anchor="t">
            <a:spAutoFit/>
          </a:bodyPr>
          <a:lstStyle/>
          <a:p>
            <a:pPr>
              <a:spcAft>
                <a:spcPts val="800"/>
              </a:spcAft>
            </a:pPr>
            <a:r>
              <a:rPr sz="1900" b="0">
                <a:solidFill>
                  <a:srgbClr val="102331"/>
                </a:solidFill>
                <a:latin typeface="Arial"/>
              </a:rPr>
              <a:t>What are the key developments this month?</a:t>
            </a:r>
          </a:p>
        </p:txBody>
      </p:sp>
      <p:sp>
        <p:nvSpPr>
          <p:cNvPr id="21" name="TextBox 20"/>
          <p:cNvSpPr txBox="1"/>
          <p:nvPr/>
        </p:nvSpPr>
        <p:spPr>
          <a:xfrm>
            <a:off x="8449056" y="4956048"/>
            <a:ext cx="3108960" cy="86868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Agree the meeting position, open questions and what to watch.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594360" y="329184"/>
            <a:ext cx="9144000" cy="201168"/>
          </a:xfrm>
          <a:prstGeom prst="rect">
            <a:avLst/>
          </a:prstGeom>
          <a:noFill/>
        </p:spPr>
        <p:txBody>
          <a:bodyPr wrap="square" lIns="18288" rIns="18288" tIns="0" bIns="0" anchor="t">
            <a:spAutoFit/>
          </a:bodyPr>
          <a:lstStyle/>
          <a:p>
            <a:pPr>
              <a:spcAft>
                <a:spcPts val="800"/>
              </a:spcAft>
            </a:pPr>
            <a:r>
              <a:rPr sz="1000" b="1">
                <a:solidFill>
                  <a:srgbClr val="1B8077"/>
                </a:solidFill>
                <a:latin typeface="Arial"/>
              </a:rPr>
              <a:t>LONDON MARKET MONITOR  /  HOW IT WORKS</a:t>
            </a:r>
          </a:p>
        </p:txBody>
      </p:sp>
      <p:sp>
        <p:nvSpPr>
          <p:cNvPr id="3" name="TextBox 2"/>
          <p:cNvSpPr txBox="1"/>
          <p:nvPr/>
        </p:nvSpPr>
        <p:spPr>
          <a:xfrm>
            <a:off x="594360" y="877824"/>
            <a:ext cx="10972800" cy="1051560"/>
          </a:xfrm>
          <a:prstGeom prst="rect">
            <a:avLst/>
          </a:prstGeom>
          <a:noFill/>
        </p:spPr>
        <p:txBody>
          <a:bodyPr wrap="square" lIns="18288" rIns="18288" tIns="0" bIns="0" anchor="t">
            <a:spAutoFit/>
          </a:bodyPr>
          <a:lstStyle/>
          <a:p>
            <a:pPr>
              <a:spcAft>
                <a:spcPts val="800"/>
              </a:spcAft>
            </a:pPr>
            <a:r>
              <a:rPr sz="2900" b="1">
                <a:solidFill>
                  <a:srgbClr val="102331"/>
                </a:solidFill>
                <a:latin typeface="Arial"/>
              </a:rPr>
              <a:t>Bring your sources. Ask your question. Get cited answers.</a:t>
            </a:r>
          </a:p>
        </p:txBody>
      </p:sp>
      <p:sp>
        <p:nvSpPr>
          <p:cNvPr id="4" name="TextBox 3"/>
          <p:cNvSpPr txBox="1"/>
          <p:nvPr/>
        </p:nvSpPr>
        <p:spPr>
          <a:xfrm>
            <a:off x="612648" y="1691640"/>
            <a:ext cx="10881360" cy="59436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A question-led workflow turns accessible reports into a brief you can inspect.</a:t>
            </a:r>
          </a:p>
        </p:txBody>
      </p:sp>
      <p:sp>
        <p:nvSpPr>
          <p:cNvPr id="5" name="TextBox 4"/>
          <p:cNvSpPr txBox="1"/>
          <p:nvPr/>
        </p:nvSpPr>
        <p:spPr>
          <a:xfrm>
            <a:off x="612648" y="6419088"/>
            <a:ext cx="9601200" cy="201168"/>
          </a:xfrm>
          <a:prstGeom prst="rect">
            <a:avLst/>
          </a:prstGeom>
          <a:noFill/>
        </p:spPr>
        <p:txBody>
          <a:bodyPr wrap="square" lIns="18288" rIns="18288" tIns="0" bIns="0" anchor="t">
            <a:spAutoFit/>
          </a:bodyPr>
          <a:lstStyle/>
          <a:p>
            <a:pPr>
              <a:spcAft>
                <a:spcPts val="800"/>
              </a:spcAft>
            </a:pPr>
            <a:r>
              <a:rPr sz="900" b="0">
                <a:solidFill>
                  <a:srgbClr val="52676D"/>
                </a:solidFill>
                <a:latin typeface="Arial"/>
              </a:rPr>
              <a:t>EXECUTIVE DECISION BRIEF  |  10 SEPTEMBER 2026</a:t>
            </a:r>
          </a:p>
        </p:txBody>
      </p:sp>
      <p:sp>
        <p:nvSpPr>
          <p:cNvPr id="6" name="TextBox 5"/>
          <p:cNvSpPr txBox="1"/>
          <p:nvPr/>
        </p:nvSpPr>
        <p:spPr>
          <a:xfrm>
            <a:off x="10972800" y="6400800"/>
            <a:ext cx="640080" cy="219456"/>
          </a:xfrm>
          <a:prstGeom prst="rect">
            <a:avLst/>
          </a:prstGeom>
          <a:noFill/>
        </p:spPr>
        <p:txBody>
          <a:bodyPr wrap="square" lIns="18288" rIns="18288" tIns="0" bIns="0" anchor="t">
            <a:spAutoFit/>
          </a:bodyPr>
          <a:lstStyle/>
          <a:p>
            <a:pPr>
              <a:spcAft>
                <a:spcPts val="800"/>
              </a:spcAft>
            </a:pPr>
            <a:r>
              <a:rPr sz="1000" b="0">
                <a:solidFill>
                  <a:srgbClr val="52676D"/>
                </a:solidFill>
                <a:latin typeface="Arial"/>
              </a:rPr>
              <a:t>03 / 06</a:t>
            </a:r>
          </a:p>
        </p:txBody>
      </p:sp>
      <p:sp>
        <p:nvSpPr>
          <p:cNvPr id="7" name="Rectangle 6"/>
          <p:cNvSpPr/>
          <p:nvPr/>
        </p:nvSpPr>
        <p:spPr>
          <a:xfrm>
            <a:off x="640080" y="2788920"/>
            <a:ext cx="2011680" cy="205740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3017520"/>
            <a:ext cx="1773936" cy="502920"/>
          </a:xfrm>
          <a:prstGeom prst="rect">
            <a:avLst/>
          </a:prstGeom>
          <a:noFill/>
        </p:spPr>
        <p:txBody>
          <a:bodyPr wrap="square" lIns="18288" rIns="18288" tIns="0" bIns="0" anchor="t">
            <a:spAutoFit/>
          </a:bodyPr>
          <a:lstStyle/>
          <a:p>
            <a:pPr>
              <a:spcAft>
                <a:spcPts val="800"/>
              </a:spcAft>
            </a:pPr>
            <a:r>
              <a:rPr sz="1700" b="1">
                <a:solidFill>
                  <a:srgbClr val="1B8077"/>
                </a:solidFill>
                <a:latin typeface="Arial"/>
              </a:rPr>
              <a:t>Sources</a:t>
            </a:r>
          </a:p>
        </p:txBody>
      </p:sp>
      <p:sp>
        <p:nvSpPr>
          <p:cNvPr id="9" name="TextBox 8"/>
          <p:cNvSpPr txBox="1"/>
          <p:nvPr/>
        </p:nvSpPr>
        <p:spPr>
          <a:xfrm>
            <a:off x="768096" y="3703320"/>
            <a:ext cx="1737360" cy="960120"/>
          </a:xfrm>
          <a:prstGeom prst="rect">
            <a:avLst/>
          </a:prstGeom>
          <a:noFill/>
        </p:spPr>
        <p:txBody>
          <a:bodyPr wrap="square" lIns="18288" rIns="18288" tIns="0" bIns="0" anchor="t">
            <a:spAutoFit/>
          </a:bodyPr>
          <a:lstStyle/>
          <a:p>
            <a:pPr>
              <a:spcAft>
                <a:spcPts val="800"/>
              </a:spcAft>
            </a:pPr>
            <a:r>
              <a:rPr sz="1600" b="0">
                <a:solidFill>
                  <a:srgbClr val="102331"/>
                </a:solidFill>
                <a:latin typeface="Arial"/>
              </a:rPr>
              <a:t>Public reports, market news and supplied text</a:t>
            </a:r>
          </a:p>
        </p:txBody>
      </p:sp>
      <p:sp>
        <p:nvSpPr>
          <p:cNvPr id="10" name="Right Arrow 9"/>
          <p:cNvSpPr/>
          <p:nvPr/>
        </p:nvSpPr>
        <p:spPr>
          <a:xfrm>
            <a:off x="2679191" y="3611880"/>
            <a:ext cx="219456" cy="228600"/>
          </a:xfrm>
          <a:prstGeom prst="rightArrow">
            <a:avLst/>
          </a:prstGeom>
          <a:solidFill>
            <a:srgbClr val="1B80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944368" y="2788920"/>
            <a:ext cx="2011680" cy="205740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72384" y="3017520"/>
            <a:ext cx="1773936" cy="502920"/>
          </a:xfrm>
          <a:prstGeom prst="rect">
            <a:avLst/>
          </a:prstGeom>
          <a:noFill/>
        </p:spPr>
        <p:txBody>
          <a:bodyPr wrap="square" lIns="18288" rIns="18288" tIns="0" bIns="0" anchor="t">
            <a:spAutoFit/>
          </a:bodyPr>
          <a:lstStyle/>
          <a:p>
            <a:pPr>
              <a:spcAft>
                <a:spcPts val="800"/>
              </a:spcAft>
            </a:pPr>
            <a:r>
              <a:rPr sz="1700" b="1">
                <a:solidFill>
                  <a:srgbClr val="1B8077"/>
                </a:solidFill>
                <a:latin typeface="Arial"/>
              </a:rPr>
              <a:t>Retrieve / Filter</a:t>
            </a:r>
          </a:p>
        </p:txBody>
      </p:sp>
      <p:sp>
        <p:nvSpPr>
          <p:cNvPr id="13" name="TextBox 12"/>
          <p:cNvSpPr txBox="1"/>
          <p:nvPr/>
        </p:nvSpPr>
        <p:spPr>
          <a:xfrm>
            <a:off x="3072384" y="3703320"/>
            <a:ext cx="1737360" cy="960120"/>
          </a:xfrm>
          <a:prstGeom prst="rect">
            <a:avLst/>
          </a:prstGeom>
          <a:noFill/>
        </p:spPr>
        <p:txBody>
          <a:bodyPr wrap="square" lIns="18288" rIns="18288" tIns="0" bIns="0" anchor="t">
            <a:spAutoFit/>
          </a:bodyPr>
          <a:lstStyle/>
          <a:p>
            <a:pPr>
              <a:spcAft>
                <a:spcPts val="800"/>
              </a:spcAft>
            </a:pPr>
            <a:r>
              <a:rPr sz="1600" b="0">
                <a:solidFill>
                  <a:srgbClr val="102331"/>
                </a:solidFill>
                <a:latin typeface="Arial"/>
              </a:rPr>
              <a:t>Find evidence relevant to the question and period</a:t>
            </a:r>
          </a:p>
        </p:txBody>
      </p:sp>
      <p:sp>
        <p:nvSpPr>
          <p:cNvPr id="14" name="Right Arrow 13"/>
          <p:cNvSpPr/>
          <p:nvPr/>
        </p:nvSpPr>
        <p:spPr>
          <a:xfrm>
            <a:off x="4983479" y="3611880"/>
            <a:ext cx="219456" cy="228600"/>
          </a:xfrm>
          <a:prstGeom prst="rightArrow">
            <a:avLst/>
          </a:prstGeom>
          <a:solidFill>
            <a:srgbClr val="1B80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248656" y="2788920"/>
            <a:ext cx="2011680" cy="205740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76672" y="3017520"/>
            <a:ext cx="1773936" cy="502920"/>
          </a:xfrm>
          <a:prstGeom prst="rect">
            <a:avLst/>
          </a:prstGeom>
          <a:noFill/>
        </p:spPr>
        <p:txBody>
          <a:bodyPr wrap="square" lIns="18288" rIns="18288" tIns="0" bIns="0" anchor="t">
            <a:spAutoFit/>
          </a:bodyPr>
          <a:lstStyle/>
          <a:p>
            <a:pPr>
              <a:spcAft>
                <a:spcPts val="800"/>
              </a:spcAft>
            </a:pPr>
            <a:r>
              <a:rPr sz="1700" b="1">
                <a:solidFill>
                  <a:srgbClr val="1B8077"/>
                </a:solidFill>
                <a:latin typeface="Arial"/>
              </a:rPr>
              <a:t>Compare / Reason</a:t>
            </a:r>
          </a:p>
        </p:txBody>
      </p:sp>
      <p:sp>
        <p:nvSpPr>
          <p:cNvPr id="17" name="TextBox 16"/>
          <p:cNvSpPr txBox="1"/>
          <p:nvPr/>
        </p:nvSpPr>
        <p:spPr>
          <a:xfrm>
            <a:off x="5376672" y="3703320"/>
            <a:ext cx="1737360" cy="960120"/>
          </a:xfrm>
          <a:prstGeom prst="rect">
            <a:avLst/>
          </a:prstGeom>
          <a:noFill/>
        </p:spPr>
        <p:txBody>
          <a:bodyPr wrap="square" lIns="18288" rIns="18288" tIns="0" bIns="0" anchor="t">
            <a:spAutoFit/>
          </a:bodyPr>
          <a:lstStyle/>
          <a:p>
            <a:pPr>
              <a:spcAft>
                <a:spcPts val="800"/>
              </a:spcAft>
            </a:pPr>
            <a:r>
              <a:rPr sz="1600" b="0">
                <a:solidFill>
                  <a:srgbClr val="102331"/>
                </a:solidFill>
                <a:latin typeface="Arial"/>
              </a:rPr>
              <a:t>Match measures and weigh the findings</a:t>
            </a:r>
          </a:p>
        </p:txBody>
      </p:sp>
      <p:sp>
        <p:nvSpPr>
          <p:cNvPr id="18" name="Right Arrow 17"/>
          <p:cNvSpPr/>
          <p:nvPr/>
        </p:nvSpPr>
        <p:spPr>
          <a:xfrm>
            <a:off x="7287768" y="3611880"/>
            <a:ext cx="219456" cy="228600"/>
          </a:xfrm>
          <a:prstGeom prst="rightArrow">
            <a:avLst/>
          </a:prstGeom>
          <a:solidFill>
            <a:srgbClr val="1B80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52944" y="2788920"/>
            <a:ext cx="2011680" cy="205740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0" y="3017520"/>
            <a:ext cx="1773936" cy="502920"/>
          </a:xfrm>
          <a:prstGeom prst="rect">
            <a:avLst/>
          </a:prstGeom>
          <a:noFill/>
        </p:spPr>
        <p:txBody>
          <a:bodyPr wrap="square" lIns="18288" rIns="18288" tIns="0" bIns="0" anchor="t">
            <a:spAutoFit/>
          </a:bodyPr>
          <a:lstStyle/>
          <a:p>
            <a:pPr>
              <a:spcAft>
                <a:spcPts val="800"/>
              </a:spcAft>
            </a:pPr>
            <a:r>
              <a:rPr sz="1700" b="1">
                <a:solidFill>
                  <a:srgbClr val="1B8077"/>
                </a:solidFill>
                <a:latin typeface="Arial"/>
              </a:rPr>
              <a:t>Verify</a:t>
            </a:r>
          </a:p>
        </p:txBody>
      </p:sp>
      <p:sp>
        <p:nvSpPr>
          <p:cNvPr id="21" name="TextBox 20"/>
          <p:cNvSpPr txBox="1"/>
          <p:nvPr/>
        </p:nvSpPr>
        <p:spPr>
          <a:xfrm>
            <a:off x="7680960" y="3703320"/>
            <a:ext cx="1737360" cy="960120"/>
          </a:xfrm>
          <a:prstGeom prst="rect">
            <a:avLst/>
          </a:prstGeom>
          <a:noFill/>
        </p:spPr>
        <p:txBody>
          <a:bodyPr wrap="square" lIns="18288" rIns="18288" tIns="0" bIns="0" anchor="t">
            <a:spAutoFit/>
          </a:bodyPr>
          <a:lstStyle/>
          <a:p>
            <a:pPr>
              <a:spcAft>
                <a:spcPts val="800"/>
              </a:spcAft>
            </a:pPr>
            <a:r>
              <a:rPr sz="1600" b="0">
                <a:solidFill>
                  <a:srgbClr val="102331"/>
                </a:solidFill>
                <a:latin typeface="Arial"/>
              </a:rPr>
              <a:t>Check citations and numerical support</a:t>
            </a:r>
          </a:p>
        </p:txBody>
      </p:sp>
      <p:sp>
        <p:nvSpPr>
          <p:cNvPr id="22" name="Right Arrow 21"/>
          <p:cNvSpPr/>
          <p:nvPr/>
        </p:nvSpPr>
        <p:spPr>
          <a:xfrm>
            <a:off x="9592056" y="3611880"/>
            <a:ext cx="219456" cy="228600"/>
          </a:xfrm>
          <a:prstGeom prst="rightArrow">
            <a:avLst/>
          </a:prstGeom>
          <a:solidFill>
            <a:srgbClr val="1B80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857232" y="2788920"/>
            <a:ext cx="2011680" cy="205740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85248" y="3017520"/>
            <a:ext cx="1773936" cy="502920"/>
          </a:xfrm>
          <a:prstGeom prst="rect">
            <a:avLst/>
          </a:prstGeom>
          <a:noFill/>
        </p:spPr>
        <p:txBody>
          <a:bodyPr wrap="square" lIns="18288" rIns="18288" tIns="0" bIns="0" anchor="t">
            <a:spAutoFit/>
          </a:bodyPr>
          <a:lstStyle/>
          <a:p>
            <a:pPr>
              <a:spcAft>
                <a:spcPts val="800"/>
              </a:spcAft>
            </a:pPr>
            <a:r>
              <a:rPr sz="1700" b="1">
                <a:solidFill>
                  <a:srgbClr val="1B8077"/>
                </a:solidFill>
                <a:latin typeface="Arial"/>
              </a:rPr>
              <a:t>Cited Brief</a:t>
            </a:r>
          </a:p>
        </p:txBody>
      </p:sp>
      <p:sp>
        <p:nvSpPr>
          <p:cNvPr id="25" name="TextBox 24"/>
          <p:cNvSpPr txBox="1"/>
          <p:nvPr/>
        </p:nvSpPr>
        <p:spPr>
          <a:xfrm>
            <a:off x="9985248" y="3703320"/>
            <a:ext cx="1737360" cy="960120"/>
          </a:xfrm>
          <a:prstGeom prst="rect">
            <a:avLst/>
          </a:prstGeom>
          <a:noFill/>
        </p:spPr>
        <p:txBody>
          <a:bodyPr wrap="square" lIns="18288" rIns="18288" tIns="0" bIns="0" anchor="t">
            <a:spAutoFit/>
          </a:bodyPr>
          <a:lstStyle/>
          <a:p>
            <a:pPr>
              <a:spcAft>
                <a:spcPts val="800"/>
              </a:spcAft>
            </a:pPr>
            <a:r>
              <a:rPr sz="1600" b="0">
                <a:solidFill>
                  <a:srgbClr val="102331"/>
                </a:solidFill>
                <a:latin typeface="Arial"/>
              </a:rPr>
              <a:t>State the takeaway, sources and gaps</a:t>
            </a:r>
          </a:p>
        </p:txBody>
      </p:sp>
      <p:sp>
        <p:nvSpPr>
          <p:cNvPr id="26" name="TextBox 25"/>
          <p:cNvSpPr txBox="1"/>
          <p:nvPr/>
        </p:nvSpPr>
        <p:spPr>
          <a:xfrm>
            <a:off x="685800" y="5303520"/>
            <a:ext cx="10789920" cy="365760"/>
          </a:xfrm>
          <a:prstGeom prst="rect">
            <a:avLst/>
          </a:prstGeom>
          <a:noFill/>
        </p:spPr>
        <p:txBody>
          <a:bodyPr wrap="square" lIns="18288" rIns="18288" tIns="0" bIns="0" anchor="t">
            <a:spAutoFit/>
          </a:bodyPr>
          <a:lstStyle/>
          <a:p>
            <a:pPr>
              <a:spcAft>
                <a:spcPts val="800"/>
              </a:spcAft>
            </a:pPr>
            <a:r>
              <a:rPr sz="2000" b="1">
                <a:solidFill>
                  <a:srgbClr val="102331"/>
                </a:solidFill>
                <a:latin typeface="Arial"/>
              </a:rPr>
              <a:t>Your team sets the question. The agent assembles evidence. People make the decision.</a:t>
            </a:r>
          </a:p>
        </p:txBody>
      </p:sp>
      <p:sp>
        <p:nvSpPr>
          <p:cNvPr id="27" name="TextBox 26"/>
          <p:cNvSpPr txBox="1"/>
          <p:nvPr/>
        </p:nvSpPr>
        <p:spPr>
          <a:xfrm>
            <a:off x="685800" y="5852160"/>
            <a:ext cx="10789920" cy="27432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Source passages stay available for review; gaps remain visible in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331"/>
        </a:solidFill>
        <a:effectLst/>
      </p:bgPr>
    </p:bg>
    <p:spTree>
      <p:nvGrpSpPr>
        <p:cNvPr id="1" name=""/>
        <p:cNvGrpSpPr/>
        <p:nvPr/>
      </p:nvGrpSpPr>
      <p:grpSpPr/>
      <p:sp>
        <p:nvSpPr>
          <p:cNvPr id="2" name="TextBox 1"/>
          <p:cNvSpPr txBox="1"/>
          <p:nvPr/>
        </p:nvSpPr>
        <p:spPr>
          <a:xfrm>
            <a:off x="594360" y="329184"/>
            <a:ext cx="9144000" cy="201168"/>
          </a:xfrm>
          <a:prstGeom prst="rect">
            <a:avLst/>
          </a:prstGeom>
          <a:noFill/>
        </p:spPr>
        <p:txBody>
          <a:bodyPr wrap="square" lIns="18288" rIns="18288" tIns="0" bIns="0" anchor="t">
            <a:spAutoFit/>
          </a:bodyPr>
          <a:lstStyle/>
          <a:p>
            <a:pPr>
              <a:spcAft>
                <a:spcPts val="800"/>
              </a:spcAft>
            </a:pPr>
            <a:r>
              <a:rPr sz="1000" b="1">
                <a:solidFill>
                  <a:srgbClr val="ADDAD1"/>
                </a:solidFill>
                <a:latin typeface="Arial"/>
              </a:rPr>
              <a:t>LONDON MARKET MONITOR  /  OUTPUT</a:t>
            </a:r>
          </a:p>
        </p:txBody>
      </p:sp>
      <p:sp>
        <p:nvSpPr>
          <p:cNvPr id="3" name="TextBox 2"/>
          <p:cNvSpPr txBox="1"/>
          <p:nvPr/>
        </p:nvSpPr>
        <p:spPr>
          <a:xfrm>
            <a:off x="594360" y="877824"/>
            <a:ext cx="10972800" cy="1051560"/>
          </a:xfrm>
          <a:prstGeom prst="rect">
            <a:avLst/>
          </a:prstGeom>
          <a:noFill/>
        </p:spPr>
        <p:txBody>
          <a:bodyPr wrap="square" lIns="18288" rIns="18288" tIns="0" bIns="0" anchor="t">
            <a:spAutoFit/>
          </a:bodyPr>
          <a:lstStyle/>
          <a:p>
            <a:pPr>
              <a:spcAft>
                <a:spcPts val="800"/>
              </a:spcAft>
            </a:pPr>
            <a:r>
              <a:rPr sz="2900" b="1">
                <a:solidFill>
                  <a:srgbClr val="FFFDF8"/>
                </a:solidFill>
                <a:latin typeface="Arial"/>
              </a:rPr>
              <a:t>See the takeaway first. Go deeper only when you need to.</a:t>
            </a:r>
          </a:p>
        </p:txBody>
      </p:sp>
      <p:sp>
        <p:nvSpPr>
          <p:cNvPr id="4" name="TextBox 3"/>
          <p:cNvSpPr txBox="1"/>
          <p:nvPr/>
        </p:nvSpPr>
        <p:spPr>
          <a:xfrm>
            <a:off x="612648" y="1691640"/>
            <a:ext cx="10881360" cy="594360"/>
          </a:xfrm>
          <a:prstGeom prst="rect">
            <a:avLst/>
          </a:prstGeom>
          <a:noFill/>
        </p:spPr>
        <p:txBody>
          <a:bodyPr wrap="square" lIns="18288" rIns="18288" tIns="0" bIns="0" anchor="t">
            <a:spAutoFit/>
          </a:bodyPr>
          <a:lstStyle/>
          <a:p>
            <a:pPr>
              <a:spcAft>
                <a:spcPts val="800"/>
              </a:spcAft>
            </a:pPr>
            <a:r>
              <a:rPr sz="1700" b="0">
                <a:solidFill>
                  <a:srgbClr val="ADDAD1"/>
                </a:solidFill>
                <a:latin typeface="Arial"/>
              </a:rPr>
              <a:t>Live example: do publishers disagree on City and West End prime rents?</a:t>
            </a:r>
          </a:p>
        </p:txBody>
      </p:sp>
      <p:sp>
        <p:nvSpPr>
          <p:cNvPr id="5" name="TextBox 4"/>
          <p:cNvSpPr txBox="1"/>
          <p:nvPr/>
        </p:nvSpPr>
        <p:spPr>
          <a:xfrm>
            <a:off x="612648" y="6419088"/>
            <a:ext cx="9601200" cy="201168"/>
          </a:xfrm>
          <a:prstGeom prst="rect">
            <a:avLst/>
          </a:prstGeom>
          <a:noFill/>
        </p:spPr>
        <p:txBody>
          <a:bodyPr wrap="square" lIns="18288" rIns="18288" tIns="0" bIns="0" anchor="t">
            <a:spAutoFit/>
          </a:bodyPr>
          <a:lstStyle/>
          <a:p>
            <a:pPr>
              <a:spcAft>
                <a:spcPts val="800"/>
              </a:spcAft>
            </a:pPr>
            <a:r>
              <a:rPr sz="900" b="0">
                <a:solidFill>
                  <a:srgbClr val="ADDAD1"/>
                </a:solidFill>
                <a:latin typeface="Arial"/>
              </a:rPr>
              <a:t>EXECUTIVE DECISION BRIEF  |  10 SEPTEMBER 2026</a:t>
            </a:r>
          </a:p>
        </p:txBody>
      </p:sp>
      <p:sp>
        <p:nvSpPr>
          <p:cNvPr id="6" name="TextBox 5"/>
          <p:cNvSpPr txBox="1"/>
          <p:nvPr/>
        </p:nvSpPr>
        <p:spPr>
          <a:xfrm>
            <a:off x="10972800" y="6400800"/>
            <a:ext cx="640080" cy="219456"/>
          </a:xfrm>
          <a:prstGeom prst="rect">
            <a:avLst/>
          </a:prstGeom>
          <a:noFill/>
        </p:spPr>
        <p:txBody>
          <a:bodyPr wrap="square" lIns="18288" rIns="18288" tIns="0" bIns="0" anchor="t">
            <a:spAutoFit/>
          </a:bodyPr>
          <a:lstStyle/>
          <a:p>
            <a:pPr>
              <a:spcAft>
                <a:spcPts val="800"/>
              </a:spcAft>
            </a:pPr>
            <a:r>
              <a:rPr sz="1000" b="0">
                <a:solidFill>
                  <a:srgbClr val="ADDAD1"/>
                </a:solidFill>
                <a:latin typeface="Arial"/>
              </a:rPr>
              <a:t>04 / 06</a:t>
            </a:r>
          </a:p>
        </p:txBody>
      </p:sp>
      <p:sp>
        <p:nvSpPr>
          <p:cNvPr id="7" name="Rectangle 6"/>
          <p:cNvSpPr/>
          <p:nvPr/>
        </p:nvSpPr>
        <p:spPr>
          <a:xfrm>
            <a:off x="640080" y="2468880"/>
            <a:ext cx="6812280" cy="2971800"/>
          </a:xfrm>
          <a:prstGeom prst="rect">
            <a:avLst/>
          </a:prstGeom>
          <a:solidFill>
            <a:srgbClr val="193340"/>
          </a:solidFill>
          <a:ln>
            <a:solidFill>
              <a:srgbClr val="385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697480"/>
            <a:ext cx="6309360" cy="228600"/>
          </a:xfrm>
          <a:prstGeom prst="rect">
            <a:avLst/>
          </a:prstGeom>
          <a:noFill/>
        </p:spPr>
        <p:txBody>
          <a:bodyPr wrap="square" lIns="18288" rIns="18288" tIns="0" bIns="0" anchor="t">
            <a:spAutoFit/>
          </a:bodyPr>
          <a:lstStyle/>
          <a:p>
            <a:pPr>
              <a:spcAft>
                <a:spcPts val="800"/>
              </a:spcAft>
            </a:pPr>
            <a:r>
              <a:rPr sz="1100" b="1">
                <a:solidFill>
                  <a:srgbClr val="ADDAD1"/>
                </a:solidFill>
                <a:latin typeface="Arial"/>
              </a:rPr>
              <a:t>RECORDED AGENT OUTPUT / EDITED EXCERPT</a:t>
            </a:r>
          </a:p>
        </p:txBody>
      </p:sp>
      <p:sp>
        <p:nvSpPr>
          <p:cNvPr id="9" name="TextBox 8"/>
          <p:cNvSpPr txBox="1"/>
          <p:nvPr/>
        </p:nvSpPr>
        <p:spPr>
          <a:xfrm>
            <a:off x="868680" y="3154680"/>
            <a:ext cx="6309360" cy="1280160"/>
          </a:xfrm>
          <a:prstGeom prst="rect">
            <a:avLst/>
          </a:prstGeom>
          <a:noFill/>
        </p:spPr>
        <p:txBody>
          <a:bodyPr wrap="square" lIns="18288" rIns="18288" tIns="0" bIns="0" anchor="t">
            <a:spAutoFit/>
          </a:bodyPr>
          <a:lstStyle/>
          <a:p>
            <a:pPr>
              <a:spcAft>
                <a:spcPts val="800"/>
              </a:spcAft>
            </a:pPr>
            <a:r>
              <a:rPr sz="2100" b="0">
                <a:solidFill>
                  <a:srgbClr val="FFFDF8"/>
                </a:solidFill>
                <a:latin typeface="Arial"/>
              </a:rPr>
              <a:t>Savills reports West End average prime rent of £175.10 per sq ft for Q2 2026. Knight Frank's £185.00 figure is a Q4 2025 West End Core headline rent. Different periods and definitions mean these are not a like-for-like disagreement. [1] [2]</a:t>
            </a:r>
          </a:p>
        </p:txBody>
      </p:sp>
      <p:sp>
        <p:nvSpPr>
          <p:cNvPr id="10" name="TextBox 9"/>
          <p:cNvSpPr txBox="1"/>
          <p:nvPr/>
        </p:nvSpPr>
        <p:spPr>
          <a:xfrm>
            <a:off x="868680" y="4892040"/>
            <a:ext cx="6263640" cy="365760"/>
          </a:xfrm>
          <a:prstGeom prst="rect">
            <a:avLst/>
          </a:prstGeom>
          <a:noFill/>
        </p:spPr>
        <p:txBody>
          <a:bodyPr wrap="square" lIns="18288" rIns="18288" tIns="0" bIns="0" anchor="t">
            <a:spAutoFit/>
          </a:bodyPr>
          <a:lstStyle/>
          <a:p>
            <a:pPr>
              <a:spcAft>
                <a:spcPts val="800"/>
              </a:spcAft>
            </a:pPr>
            <a:r>
              <a:rPr sz="1400" b="1">
                <a:solidFill>
                  <a:srgbClr val="ADDAD1"/>
                </a:solidFill>
                <a:latin typeface="Arial"/>
              </a:rPr>
              <a:t>Run status: partial brief; no verified overall synthesis.</a:t>
            </a:r>
          </a:p>
        </p:txBody>
      </p:sp>
      <p:sp>
        <p:nvSpPr>
          <p:cNvPr id="11" name="TextBox 10"/>
          <p:cNvSpPr txBox="1"/>
          <p:nvPr/>
        </p:nvSpPr>
        <p:spPr>
          <a:xfrm>
            <a:off x="7818120" y="2697480"/>
            <a:ext cx="3611880" cy="365760"/>
          </a:xfrm>
          <a:prstGeom prst="rect">
            <a:avLst/>
          </a:prstGeom>
          <a:noFill/>
        </p:spPr>
        <p:txBody>
          <a:bodyPr wrap="square" lIns="18288" rIns="18288" tIns="0" bIns="0" anchor="t">
            <a:spAutoFit/>
          </a:bodyPr>
          <a:lstStyle/>
          <a:p>
            <a:pPr>
              <a:spcAft>
                <a:spcPts val="800"/>
              </a:spcAft>
            </a:pPr>
            <a:r>
              <a:rPr sz="2000" b="1">
                <a:solidFill>
                  <a:srgbClr val="ADDAD1"/>
                </a:solidFill>
                <a:latin typeface="Arial"/>
              </a:rPr>
              <a:t>What this supports</a:t>
            </a:r>
          </a:p>
        </p:txBody>
      </p:sp>
      <p:sp>
        <p:nvSpPr>
          <p:cNvPr id="12" name="TextBox 11"/>
          <p:cNvSpPr txBox="1"/>
          <p:nvPr/>
        </p:nvSpPr>
        <p:spPr>
          <a:xfrm>
            <a:off x="7818120" y="3200400"/>
            <a:ext cx="3474720" cy="960120"/>
          </a:xfrm>
          <a:prstGeom prst="rect">
            <a:avLst/>
          </a:prstGeom>
          <a:noFill/>
        </p:spPr>
        <p:txBody>
          <a:bodyPr wrap="square" lIns="18288" rIns="18288" tIns="0" bIns="0" anchor="t">
            <a:spAutoFit/>
          </a:bodyPr>
          <a:lstStyle/>
          <a:p>
            <a:pPr>
              <a:spcAft>
                <a:spcPts val="800"/>
              </a:spcAft>
            </a:pPr>
            <a:r>
              <a:rPr sz="1800" b="0">
                <a:solidFill>
                  <a:srgbClr val="FFFDF8"/>
                </a:solidFill>
                <a:latin typeface="Arial"/>
              </a:rPr>
              <a:t>Check definitions before treating different rent figures as conflicting evidence.</a:t>
            </a:r>
          </a:p>
        </p:txBody>
      </p:sp>
      <p:sp>
        <p:nvSpPr>
          <p:cNvPr id="13" name="TextBox 12"/>
          <p:cNvSpPr txBox="1"/>
          <p:nvPr/>
        </p:nvSpPr>
        <p:spPr>
          <a:xfrm>
            <a:off x="7818120" y="4480560"/>
            <a:ext cx="3611880" cy="365760"/>
          </a:xfrm>
          <a:prstGeom prst="rect">
            <a:avLst/>
          </a:prstGeom>
          <a:noFill/>
        </p:spPr>
        <p:txBody>
          <a:bodyPr wrap="square" lIns="18288" rIns="18288" tIns="0" bIns="0" anchor="t">
            <a:spAutoFit/>
          </a:bodyPr>
          <a:lstStyle/>
          <a:p>
            <a:pPr>
              <a:spcAft>
                <a:spcPts val="800"/>
              </a:spcAft>
            </a:pPr>
            <a:r>
              <a:rPr sz="2000" b="1">
                <a:solidFill>
                  <a:srgbClr val="ADDAD1"/>
                </a:solidFill>
                <a:latin typeface="Arial"/>
              </a:rPr>
              <a:t>What remains open</a:t>
            </a:r>
          </a:p>
        </p:txBody>
      </p:sp>
      <p:sp>
        <p:nvSpPr>
          <p:cNvPr id="14" name="TextBox 13"/>
          <p:cNvSpPr txBox="1"/>
          <p:nvPr/>
        </p:nvSpPr>
        <p:spPr>
          <a:xfrm>
            <a:off x="7818120" y="4983480"/>
            <a:ext cx="3474720" cy="960120"/>
          </a:xfrm>
          <a:prstGeom prst="rect">
            <a:avLst/>
          </a:prstGeom>
          <a:noFill/>
        </p:spPr>
        <p:txBody>
          <a:bodyPr wrap="square" lIns="18288" rIns="18288" tIns="0" bIns="0" anchor="t">
            <a:spAutoFit/>
          </a:bodyPr>
          <a:lstStyle/>
          <a:p>
            <a:pPr>
              <a:spcAft>
                <a:spcPts val="800"/>
              </a:spcAft>
            </a:pPr>
            <a:r>
              <a:rPr sz="1700" b="0">
                <a:solidFill>
                  <a:srgbClr val="FFFDF8"/>
                </a:solidFill>
                <a:latin typeface="Arial"/>
              </a:rPr>
              <a:t>Knight Frank's Q2 rent table was absent from the retrieved text. The comparison remains open.</a:t>
            </a:r>
          </a:p>
        </p:txBody>
      </p:sp>
      <p:sp>
        <p:nvSpPr>
          <p:cNvPr id="15" name="TextBox 14">
            <a:hlinkClick r:id="rId2"/>
          </p:cNvPr>
          <p:cNvSpPr txBox="1"/>
          <p:nvPr/>
        </p:nvSpPr>
        <p:spPr>
          <a:xfrm>
            <a:off x="868680" y="5650992"/>
            <a:ext cx="6400800" cy="228600"/>
          </a:xfrm>
          <a:prstGeom prst="rect">
            <a:avLst/>
          </a:prstGeom>
          <a:noFill/>
        </p:spPr>
        <p:txBody>
          <a:bodyPr wrap="square" lIns="18288" rIns="18288" tIns="0" bIns="0" anchor="t">
            <a:spAutoFit/>
          </a:bodyPr>
          <a:lstStyle/>
          <a:p>
            <a:pPr>
              <a:spcAft>
                <a:spcPts val="800"/>
              </a:spcAft>
            </a:pPr>
            <a:r>
              <a:rPr sz="1100" b="0">
                <a:solidFill>
                  <a:srgbClr val="ADDAD1"/>
                </a:solidFill>
                <a:latin typeface="Arial"/>
              </a:rPr>
              <a:t>[1] Savills | Central London Office Market Watch, Q2 2026</a:t>
            </a:r>
          </a:p>
        </p:txBody>
      </p:sp>
      <p:sp>
        <p:nvSpPr>
          <p:cNvPr id="16" name="TextBox 15">
            <a:hlinkClick r:id="rId3"/>
          </p:cNvPr>
          <p:cNvSpPr txBox="1"/>
          <p:nvPr/>
        </p:nvSpPr>
        <p:spPr>
          <a:xfrm>
            <a:off x="868680" y="5961888"/>
            <a:ext cx="6400800" cy="228600"/>
          </a:xfrm>
          <a:prstGeom prst="rect">
            <a:avLst/>
          </a:prstGeom>
          <a:noFill/>
        </p:spPr>
        <p:txBody>
          <a:bodyPr wrap="square" lIns="18288" rIns="18288" tIns="0" bIns="0" anchor="t">
            <a:spAutoFit/>
          </a:bodyPr>
          <a:lstStyle/>
          <a:p>
            <a:pPr>
              <a:spcAft>
                <a:spcPts val="800"/>
              </a:spcAft>
            </a:pPr>
            <a:r>
              <a:rPr sz="1100" b="0">
                <a:solidFill>
                  <a:srgbClr val="ADDAD1"/>
                </a:solidFill>
                <a:latin typeface="Arial"/>
              </a:rPr>
              <a:t>[2] Knight Frank | London Office Market Report, Q4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594360" y="329184"/>
            <a:ext cx="9144000" cy="201168"/>
          </a:xfrm>
          <a:prstGeom prst="rect">
            <a:avLst/>
          </a:prstGeom>
          <a:noFill/>
        </p:spPr>
        <p:txBody>
          <a:bodyPr wrap="square" lIns="18288" rIns="18288" tIns="0" bIns="0" anchor="t">
            <a:spAutoFit/>
          </a:bodyPr>
          <a:lstStyle/>
          <a:p>
            <a:pPr>
              <a:spcAft>
                <a:spcPts val="800"/>
              </a:spcAft>
            </a:pPr>
            <a:r>
              <a:rPr sz="1000" b="1">
                <a:solidFill>
                  <a:srgbClr val="1B8077"/>
                </a:solidFill>
                <a:latin typeface="Arial"/>
              </a:rPr>
              <a:t>LONDON MARKET MONITOR  /  TRUST</a:t>
            </a:r>
          </a:p>
        </p:txBody>
      </p:sp>
      <p:sp>
        <p:nvSpPr>
          <p:cNvPr id="3" name="TextBox 2"/>
          <p:cNvSpPr txBox="1"/>
          <p:nvPr/>
        </p:nvSpPr>
        <p:spPr>
          <a:xfrm>
            <a:off x="594360" y="877824"/>
            <a:ext cx="10972800" cy="1051560"/>
          </a:xfrm>
          <a:prstGeom prst="rect">
            <a:avLst/>
          </a:prstGeom>
          <a:noFill/>
        </p:spPr>
        <p:txBody>
          <a:bodyPr wrap="square" lIns="18288" rIns="18288" tIns="0" bIns="0" anchor="t">
            <a:spAutoFit/>
          </a:bodyPr>
          <a:lstStyle/>
          <a:p>
            <a:pPr>
              <a:spcAft>
                <a:spcPts val="800"/>
              </a:spcAft>
            </a:pPr>
            <a:r>
              <a:rPr sz="2900" b="1">
                <a:solidFill>
                  <a:srgbClr val="102331"/>
                </a:solidFill>
                <a:latin typeface="Arial"/>
              </a:rPr>
              <a:t>Check the claim before it reaches the meeting</a:t>
            </a:r>
          </a:p>
        </p:txBody>
      </p:sp>
      <p:sp>
        <p:nvSpPr>
          <p:cNvPr id="4" name="TextBox 3"/>
          <p:cNvSpPr txBox="1"/>
          <p:nvPr/>
        </p:nvSpPr>
        <p:spPr>
          <a:xfrm>
            <a:off x="612648" y="1691640"/>
            <a:ext cx="10881360" cy="59436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Trust comes from showing what can be compared, what conflicts and what remains unknown.</a:t>
            </a:r>
          </a:p>
        </p:txBody>
      </p:sp>
      <p:sp>
        <p:nvSpPr>
          <p:cNvPr id="5" name="TextBox 4"/>
          <p:cNvSpPr txBox="1"/>
          <p:nvPr/>
        </p:nvSpPr>
        <p:spPr>
          <a:xfrm>
            <a:off x="612648" y="6419088"/>
            <a:ext cx="9601200" cy="201168"/>
          </a:xfrm>
          <a:prstGeom prst="rect">
            <a:avLst/>
          </a:prstGeom>
          <a:noFill/>
        </p:spPr>
        <p:txBody>
          <a:bodyPr wrap="square" lIns="18288" rIns="18288" tIns="0" bIns="0" anchor="t">
            <a:spAutoFit/>
          </a:bodyPr>
          <a:lstStyle/>
          <a:p>
            <a:pPr>
              <a:spcAft>
                <a:spcPts val="800"/>
              </a:spcAft>
            </a:pPr>
            <a:r>
              <a:rPr sz="900" b="0">
                <a:solidFill>
                  <a:srgbClr val="52676D"/>
                </a:solidFill>
                <a:latin typeface="Arial"/>
              </a:rPr>
              <a:t>EXECUTIVE DECISION BRIEF  |  10 SEPTEMBER 2026</a:t>
            </a:r>
          </a:p>
        </p:txBody>
      </p:sp>
      <p:sp>
        <p:nvSpPr>
          <p:cNvPr id="6" name="TextBox 5"/>
          <p:cNvSpPr txBox="1"/>
          <p:nvPr/>
        </p:nvSpPr>
        <p:spPr>
          <a:xfrm>
            <a:off x="10972800" y="6400800"/>
            <a:ext cx="640080" cy="219456"/>
          </a:xfrm>
          <a:prstGeom prst="rect">
            <a:avLst/>
          </a:prstGeom>
          <a:noFill/>
        </p:spPr>
        <p:txBody>
          <a:bodyPr wrap="square" lIns="18288" rIns="18288" tIns="0" bIns="0" anchor="t">
            <a:spAutoFit/>
          </a:bodyPr>
          <a:lstStyle/>
          <a:p>
            <a:pPr>
              <a:spcAft>
                <a:spcPts val="800"/>
              </a:spcAft>
            </a:pPr>
            <a:r>
              <a:rPr sz="1000" b="0">
                <a:solidFill>
                  <a:srgbClr val="52676D"/>
                </a:solidFill>
                <a:latin typeface="Arial"/>
              </a:rPr>
              <a:t>05 / 06</a:t>
            </a:r>
          </a:p>
        </p:txBody>
      </p:sp>
      <p:sp>
        <p:nvSpPr>
          <p:cNvPr id="7" name="Rectangle 6"/>
          <p:cNvSpPr/>
          <p:nvPr/>
        </p:nvSpPr>
        <p:spPr>
          <a:xfrm>
            <a:off x="640080" y="2514600"/>
            <a:ext cx="5440680" cy="132588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679192"/>
            <a:ext cx="5029200" cy="320040"/>
          </a:xfrm>
          <a:prstGeom prst="rect">
            <a:avLst/>
          </a:prstGeom>
          <a:noFill/>
        </p:spPr>
        <p:txBody>
          <a:bodyPr wrap="square" lIns="18288" rIns="18288" tIns="0" bIns="0" anchor="t">
            <a:spAutoFit/>
          </a:bodyPr>
          <a:lstStyle/>
          <a:p>
            <a:pPr>
              <a:spcAft>
                <a:spcPts val="800"/>
              </a:spcAft>
            </a:pPr>
            <a:r>
              <a:rPr sz="2000" b="1">
                <a:solidFill>
                  <a:srgbClr val="1B8077"/>
                </a:solidFill>
                <a:latin typeface="Arial"/>
              </a:rPr>
              <a:t>Comparable sources</a:t>
            </a:r>
          </a:p>
        </p:txBody>
      </p:sp>
      <p:sp>
        <p:nvSpPr>
          <p:cNvPr id="9" name="TextBox 8"/>
          <p:cNvSpPr txBox="1"/>
          <p:nvPr/>
        </p:nvSpPr>
        <p:spPr>
          <a:xfrm>
            <a:off x="841247" y="3127248"/>
            <a:ext cx="4983480" cy="621792"/>
          </a:xfrm>
          <a:prstGeom prst="rect">
            <a:avLst/>
          </a:prstGeom>
          <a:noFill/>
        </p:spPr>
        <p:txBody>
          <a:bodyPr wrap="square" lIns="18288" rIns="18288" tIns="0" bIns="0" anchor="t">
            <a:spAutoFit/>
          </a:bodyPr>
          <a:lstStyle/>
          <a:p>
            <a:pPr>
              <a:spcAft>
                <a:spcPts val="800"/>
              </a:spcAft>
            </a:pPr>
            <a:r>
              <a:rPr sz="1700" b="0">
                <a:solidFill>
                  <a:srgbClr val="102331"/>
                </a:solidFill>
                <a:latin typeface="Arial"/>
              </a:rPr>
              <a:t>Match the measure, location, units and period before comparing values.</a:t>
            </a:r>
          </a:p>
        </p:txBody>
      </p:sp>
      <p:sp>
        <p:nvSpPr>
          <p:cNvPr id="10" name="Rectangle 9"/>
          <p:cNvSpPr/>
          <p:nvPr/>
        </p:nvSpPr>
        <p:spPr>
          <a:xfrm>
            <a:off x="6400800" y="2514600"/>
            <a:ext cx="5440680" cy="132588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1968" y="2679192"/>
            <a:ext cx="5029200" cy="320040"/>
          </a:xfrm>
          <a:prstGeom prst="rect">
            <a:avLst/>
          </a:prstGeom>
          <a:noFill/>
        </p:spPr>
        <p:txBody>
          <a:bodyPr wrap="square" lIns="18288" rIns="18288" tIns="0" bIns="0" anchor="t">
            <a:spAutoFit/>
          </a:bodyPr>
          <a:lstStyle/>
          <a:p>
            <a:pPr>
              <a:spcAft>
                <a:spcPts val="800"/>
              </a:spcAft>
            </a:pPr>
            <a:r>
              <a:rPr sz="2000" b="1">
                <a:solidFill>
                  <a:srgbClr val="1B8077"/>
                </a:solidFill>
                <a:latin typeface="Arial"/>
              </a:rPr>
              <a:t>Conflicting evidence</a:t>
            </a:r>
          </a:p>
        </p:txBody>
      </p:sp>
      <p:sp>
        <p:nvSpPr>
          <p:cNvPr id="12" name="TextBox 11"/>
          <p:cNvSpPr txBox="1"/>
          <p:nvPr/>
        </p:nvSpPr>
        <p:spPr>
          <a:xfrm>
            <a:off x="6601968" y="3127248"/>
            <a:ext cx="4983480" cy="621792"/>
          </a:xfrm>
          <a:prstGeom prst="rect">
            <a:avLst/>
          </a:prstGeom>
          <a:noFill/>
        </p:spPr>
        <p:txBody>
          <a:bodyPr wrap="square" lIns="18288" rIns="18288" tIns="0" bIns="0" anchor="t">
            <a:spAutoFit/>
          </a:bodyPr>
          <a:lstStyle/>
          <a:p>
            <a:pPr>
              <a:spcAft>
                <a:spcPts val="800"/>
              </a:spcAft>
            </a:pPr>
            <a:r>
              <a:rPr sz="1700" b="0">
                <a:solidFill>
                  <a:srgbClr val="102331"/>
                </a:solidFill>
                <a:latin typeface="Arial"/>
              </a:rPr>
              <a:t>Keep competing reports visible. Do not average away differences in definitions or coverage.</a:t>
            </a:r>
          </a:p>
        </p:txBody>
      </p:sp>
      <p:sp>
        <p:nvSpPr>
          <p:cNvPr id="13" name="Rectangle 12"/>
          <p:cNvSpPr/>
          <p:nvPr/>
        </p:nvSpPr>
        <p:spPr>
          <a:xfrm>
            <a:off x="640080" y="4023360"/>
            <a:ext cx="5440680" cy="132588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4187952"/>
            <a:ext cx="5029200" cy="320040"/>
          </a:xfrm>
          <a:prstGeom prst="rect">
            <a:avLst/>
          </a:prstGeom>
          <a:noFill/>
        </p:spPr>
        <p:txBody>
          <a:bodyPr wrap="square" lIns="18288" rIns="18288" tIns="0" bIns="0" anchor="t">
            <a:spAutoFit/>
          </a:bodyPr>
          <a:lstStyle/>
          <a:p>
            <a:pPr>
              <a:spcAft>
                <a:spcPts val="800"/>
              </a:spcAft>
            </a:pPr>
            <a:r>
              <a:rPr sz="2000" b="1">
                <a:solidFill>
                  <a:srgbClr val="1B8077"/>
                </a:solidFill>
                <a:latin typeface="Arial"/>
              </a:rPr>
              <a:t>Explicit uncertainty</a:t>
            </a:r>
          </a:p>
        </p:txBody>
      </p:sp>
      <p:sp>
        <p:nvSpPr>
          <p:cNvPr id="15" name="TextBox 14"/>
          <p:cNvSpPr txBox="1"/>
          <p:nvPr/>
        </p:nvSpPr>
        <p:spPr>
          <a:xfrm>
            <a:off x="841247" y="4636008"/>
            <a:ext cx="4983480" cy="621792"/>
          </a:xfrm>
          <a:prstGeom prst="rect">
            <a:avLst/>
          </a:prstGeom>
          <a:noFill/>
        </p:spPr>
        <p:txBody>
          <a:bodyPr wrap="square" lIns="18288" rIns="18288" tIns="0" bIns="0" anchor="t">
            <a:spAutoFit/>
          </a:bodyPr>
          <a:lstStyle/>
          <a:p>
            <a:pPr>
              <a:spcAft>
                <a:spcPts val="800"/>
              </a:spcAft>
            </a:pPr>
            <a:r>
              <a:rPr sz="1700" b="0">
                <a:solidFill>
                  <a:srgbClr val="102331"/>
                </a:solidFill>
                <a:latin typeface="Arial"/>
              </a:rPr>
              <a:t>Separate reported facts from interpretation. Flag missing evidence and qualify the conclusion.</a:t>
            </a:r>
          </a:p>
        </p:txBody>
      </p:sp>
      <p:sp>
        <p:nvSpPr>
          <p:cNvPr id="16" name="Rectangle 15"/>
          <p:cNvSpPr/>
          <p:nvPr/>
        </p:nvSpPr>
        <p:spPr>
          <a:xfrm>
            <a:off x="6400800" y="4023360"/>
            <a:ext cx="5440680" cy="132588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1968" y="4187952"/>
            <a:ext cx="5029200" cy="320040"/>
          </a:xfrm>
          <a:prstGeom prst="rect">
            <a:avLst/>
          </a:prstGeom>
          <a:noFill/>
        </p:spPr>
        <p:txBody>
          <a:bodyPr wrap="square" lIns="18288" rIns="18288" tIns="0" bIns="0" anchor="t">
            <a:spAutoFit/>
          </a:bodyPr>
          <a:lstStyle/>
          <a:p>
            <a:pPr>
              <a:spcAft>
                <a:spcPts val="800"/>
              </a:spcAft>
            </a:pPr>
            <a:r>
              <a:rPr sz="2000" b="1">
                <a:solidFill>
                  <a:srgbClr val="1B8077"/>
                </a:solidFill>
                <a:latin typeface="Arial"/>
              </a:rPr>
              <a:t>Traceable claims</a:t>
            </a:r>
          </a:p>
        </p:txBody>
      </p:sp>
      <p:sp>
        <p:nvSpPr>
          <p:cNvPr id="18" name="TextBox 17"/>
          <p:cNvSpPr txBox="1"/>
          <p:nvPr/>
        </p:nvSpPr>
        <p:spPr>
          <a:xfrm>
            <a:off x="6601968" y="4636008"/>
            <a:ext cx="4983480" cy="621792"/>
          </a:xfrm>
          <a:prstGeom prst="rect">
            <a:avLst/>
          </a:prstGeom>
          <a:noFill/>
        </p:spPr>
        <p:txBody>
          <a:bodyPr wrap="square" lIns="18288" rIns="18288" tIns="0" bIns="0" anchor="t">
            <a:spAutoFit/>
          </a:bodyPr>
          <a:lstStyle/>
          <a:p>
            <a:pPr>
              <a:spcAft>
                <a:spcPts val="800"/>
              </a:spcAft>
            </a:pPr>
            <a:r>
              <a:rPr sz="1700" b="0">
                <a:solidFill>
                  <a:srgbClr val="102331"/>
                </a:solidFill>
                <a:latin typeface="Arial"/>
              </a:rPr>
              <a:t>Follow citations to the publisher and inspect supporting passages, values and calculations.</a:t>
            </a:r>
          </a:p>
        </p:txBody>
      </p:sp>
      <p:sp>
        <p:nvSpPr>
          <p:cNvPr id="19" name="TextBox 18"/>
          <p:cNvSpPr txBox="1"/>
          <p:nvPr/>
        </p:nvSpPr>
        <p:spPr>
          <a:xfrm>
            <a:off x="685800" y="5806440"/>
            <a:ext cx="10835640" cy="36576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Citation checks support review; the team still assesses source quality and business meaning.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594360" y="329184"/>
            <a:ext cx="9144000" cy="201168"/>
          </a:xfrm>
          <a:prstGeom prst="rect">
            <a:avLst/>
          </a:prstGeom>
          <a:noFill/>
        </p:spPr>
        <p:txBody>
          <a:bodyPr wrap="square" lIns="18288" rIns="18288" tIns="0" bIns="0" anchor="t">
            <a:spAutoFit/>
          </a:bodyPr>
          <a:lstStyle/>
          <a:p>
            <a:pPr>
              <a:spcAft>
                <a:spcPts val="800"/>
              </a:spcAft>
            </a:pPr>
            <a:r>
              <a:rPr sz="1000" b="1">
                <a:solidFill>
                  <a:srgbClr val="1B8077"/>
                </a:solidFill>
                <a:latin typeface="Arial"/>
              </a:rPr>
              <a:t>LONDON MARKET MONITOR  /  ADOPTION</a:t>
            </a:r>
          </a:p>
        </p:txBody>
      </p:sp>
      <p:sp>
        <p:nvSpPr>
          <p:cNvPr id="3" name="TextBox 2"/>
          <p:cNvSpPr txBox="1"/>
          <p:nvPr/>
        </p:nvSpPr>
        <p:spPr>
          <a:xfrm>
            <a:off x="594360" y="877824"/>
            <a:ext cx="10972800" cy="1051560"/>
          </a:xfrm>
          <a:prstGeom prst="rect">
            <a:avLst/>
          </a:prstGeom>
          <a:noFill/>
        </p:spPr>
        <p:txBody>
          <a:bodyPr wrap="square" lIns="18288" rIns="18288" tIns="0" bIns="0" anchor="t">
            <a:spAutoFit/>
          </a:bodyPr>
          <a:lstStyle/>
          <a:p>
            <a:pPr>
              <a:spcAft>
                <a:spcPts val="800"/>
              </a:spcAft>
            </a:pPr>
            <a:r>
              <a:rPr sz="2900" b="1">
                <a:solidFill>
                  <a:srgbClr val="102331"/>
                </a:solidFill>
                <a:latin typeface="Arial"/>
              </a:rPr>
              <a:t>A repeatable routine, with a human at the decision</a:t>
            </a:r>
          </a:p>
        </p:txBody>
      </p:sp>
      <p:sp>
        <p:nvSpPr>
          <p:cNvPr id="4" name="TextBox 3"/>
          <p:cNvSpPr txBox="1"/>
          <p:nvPr/>
        </p:nvSpPr>
        <p:spPr>
          <a:xfrm>
            <a:off x="612648" y="1691640"/>
            <a:ext cx="10881360" cy="594360"/>
          </a:xfrm>
          <a:prstGeom prst="rect">
            <a:avLst/>
          </a:prstGeom>
          <a:noFill/>
        </p:spPr>
        <p:txBody>
          <a:bodyPr wrap="square" lIns="18288" rIns="18288" tIns="0" bIns="0" anchor="t">
            <a:spAutoFit/>
          </a:bodyPr>
          <a:lstStyle/>
          <a:p>
            <a:pPr>
              <a:spcAft>
                <a:spcPts val="800"/>
              </a:spcAft>
            </a:pPr>
            <a:r>
              <a:rPr sz="1700" b="0">
                <a:solidFill>
                  <a:srgbClr val="52676D"/>
                </a:solidFill>
                <a:latin typeface="Arial"/>
              </a:rPr>
              <a:t>Pilot one recurring meeting question and measure whether preparation becomes easier.</a:t>
            </a:r>
          </a:p>
        </p:txBody>
      </p:sp>
      <p:sp>
        <p:nvSpPr>
          <p:cNvPr id="5" name="TextBox 4"/>
          <p:cNvSpPr txBox="1"/>
          <p:nvPr/>
        </p:nvSpPr>
        <p:spPr>
          <a:xfrm>
            <a:off x="612648" y="6419088"/>
            <a:ext cx="9601200" cy="201168"/>
          </a:xfrm>
          <a:prstGeom prst="rect">
            <a:avLst/>
          </a:prstGeom>
          <a:noFill/>
        </p:spPr>
        <p:txBody>
          <a:bodyPr wrap="square" lIns="18288" rIns="18288" tIns="0" bIns="0" anchor="t">
            <a:spAutoFit/>
          </a:bodyPr>
          <a:lstStyle/>
          <a:p>
            <a:pPr>
              <a:spcAft>
                <a:spcPts val="800"/>
              </a:spcAft>
            </a:pPr>
            <a:r>
              <a:rPr sz="900" b="0">
                <a:solidFill>
                  <a:srgbClr val="52676D"/>
                </a:solidFill>
                <a:latin typeface="Arial"/>
              </a:rPr>
              <a:t>EXECUTIVE DECISION BRIEF  |  10 SEPTEMBER 2026</a:t>
            </a:r>
          </a:p>
        </p:txBody>
      </p:sp>
      <p:sp>
        <p:nvSpPr>
          <p:cNvPr id="6" name="TextBox 5"/>
          <p:cNvSpPr txBox="1"/>
          <p:nvPr/>
        </p:nvSpPr>
        <p:spPr>
          <a:xfrm>
            <a:off x="10972800" y="6400800"/>
            <a:ext cx="640080" cy="219456"/>
          </a:xfrm>
          <a:prstGeom prst="rect">
            <a:avLst/>
          </a:prstGeom>
          <a:noFill/>
        </p:spPr>
        <p:txBody>
          <a:bodyPr wrap="square" lIns="18288" rIns="18288" tIns="0" bIns="0" anchor="t">
            <a:spAutoFit/>
          </a:bodyPr>
          <a:lstStyle/>
          <a:p>
            <a:pPr>
              <a:spcAft>
                <a:spcPts val="800"/>
              </a:spcAft>
            </a:pPr>
            <a:r>
              <a:rPr sz="1000" b="0">
                <a:solidFill>
                  <a:srgbClr val="52676D"/>
                </a:solidFill>
                <a:latin typeface="Arial"/>
              </a:rPr>
              <a:t>06 / 06</a:t>
            </a:r>
          </a:p>
        </p:txBody>
      </p:sp>
      <p:sp>
        <p:nvSpPr>
          <p:cNvPr id="7" name="Rectangle 6"/>
          <p:cNvSpPr/>
          <p:nvPr/>
        </p:nvSpPr>
        <p:spPr>
          <a:xfrm>
            <a:off x="640080" y="2514600"/>
            <a:ext cx="3566160" cy="164592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724912"/>
            <a:ext cx="3154680" cy="365760"/>
          </a:xfrm>
          <a:prstGeom prst="rect">
            <a:avLst/>
          </a:prstGeom>
          <a:noFill/>
        </p:spPr>
        <p:txBody>
          <a:bodyPr wrap="square" lIns="18288" rIns="18288" tIns="0" bIns="0" anchor="t">
            <a:spAutoFit/>
          </a:bodyPr>
          <a:lstStyle/>
          <a:p>
            <a:pPr>
              <a:spcAft>
                <a:spcPts val="800"/>
              </a:spcAft>
            </a:pPr>
            <a:r>
              <a:rPr sz="2000" b="1">
                <a:solidFill>
                  <a:srgbClr val="1B8077"/>
                </a:solidFill>
                <a:latin typeface="Arial"/>
              </a:rPr>
              <a:t>1  Refresh</a:t>
            </a:r>
          </a:p>
        </p:txBody>
      </p:sp>
      <p:sp>
        <p:nvSpPr>
          <p:cNvPr id="9" name="TextBox 8"/>
          <p:cNvSpPr txBox="1"/>
          <p:nvPr/>
        </p:nvSpPr>
        <p:spPr>
          <a:xfrm>
            <a:off x="841247" y="3273552"/>
            <a:ext cx="3136392" cy="731520"/>
          </a:xfrm>
          <a:prstGeom prst="rect">
            <a:avLst/>
          </a:prstGeom>
          <a:noFill/>
        </p:spPr>
        <p:txBody>
          <a:bodyPr wrap="square" lIns="18288" rIns="18288" tIns="0" bIns="0" anchor="t">
            <a:spAutoFit/>
          </a:bodyPr>
          <a:lstStyle/>
          <a:p>
            <a:pPr>
              <a:spcAft>
                <a:spcPts val="800"/>
              </a:spcAft>
            </a:pPr>
            <a:r>
              <a:rPr sz="1700" b="0">
                <a:solidFill>
                  <a:srgbClr val="102331"/>
                </a:solidFill>
                <a:latin typeface="Arial"/>
              </a:rPr>
              <a:t>Collect current evidence and establish the comparison baseline.</a:t>
            </a:r>
          </a:p>
        </p:txBody>
      </p:sp>
      <p:sp>
        <p:nvSpPr>
          <p:cNvPr id="10" name="Rectangle 9"/>
          <p:cNvSpPr/>
          <p:nvPr/>
        </p:nvSpPr>
        <p:spPr>
          <a:xfrm>
            <a:off x="4434840" y="2514600"/>
            <a:ext cx="3566160" cy="164592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8" y="2724912"/>
            <a:ext cx="3154680" cy="365760"/>
          </a:xfrm>
          <a:prstGeom prst="rect">
            <a:avLst/>
          </a:prstGeom>
          <a:noFill/>
        </p:spPr>
        <p:txBody>
          <a:bodyPr wrap="square" lIns="18288" rIns="18288" tIns="0" bIns="0" anchor="t">
            <a:spAutoFit/>
          </a:bodyPr>
          <a:lstStyle/>
          <a:p>
            <a:pPr>
              <a:spcAft>
                <a:spcPts val="800"/>
              </a:spcAft>
            </a:pPr>
            <a:r>
              <a:rPr sz="2000" b="1">
                <a:solidFill>
                  <a:srgbClr val="1B8077"/>
                </a:solidFill>
                <a:latin typeface="Arial"/>
              </a:rPr>
              <a:t>2  Review</a:t>
            </a:r>
          </a:p>
        </p:txBody>
      </p:sp>
      <p:sp>
        <p:nvSpPr>
          <p:cNvPr id="12" name="TextBox 11"/>
          <p:cNvSpPr txBox="1"/>
          <p:nvPr/>
        </p:nvSpPr>
        <p:spPr>
          <a:xfrm>
            <a:off x="4636008" y="3273552"/>
            <a:ext cx="3136392" cy="731520"/>
          </a:xfrm>
          <a:prstGeom prst="rect">
            <a:avLst/>
          </a:prstGeom>
          <a:noFill/>
        </p:spPr>
        <p:txBody>
          <a:bodyPr wrap="square" lIns="18288" rIns="18288" tIns="0" bIns="0" anchor="t">
            <a:spAutoFit/>
          </a:bodyPr>
          <a:lstStyle/>
          <a:p>
            <a:pPr>
              <a:spcAft>
                <a:spcPts val="800"/>
              </a:spcAft>
            </a:pPr>
            <a:r>
              <a:rPr sz="1700" b="0">
                <a:solidFill>
                  <a:srgbClr val="102331"/>
                </a:solidFill>
                <a:latin typeface="Arial"/>
              </a:rPr>
              <a:t>Read the brief, challenge the key claim and discuss the gaps.</a:t>
            </a:r>
          </a:p>
        </p:txBody>
      </p:sp>
      <p:sp>
        <p:nvSpPr>
          <p:cNvPr id="13" name="Rectangle 12"/>
          <p:cNvSpPr/>
          <p:nvPr/>
        </p:nvSpPr>
        <p:spPr>
          <a:xfrm>
            <a:off x="8229600" y="2514600"/>
            <a:ext cx="3566160" cy="1645920"/>
          </a:xfrm>
          <a:prstGeom prst="rect">
            <a:avLst/>
          </a:prstGeom>
          <a:solidFill>
            <a:srgbClr val="FFFDF8"/>
          </a:solidFill>
          <a:ln>
            <a:solidFill>
              <a:srgbClr val="D7D5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30768" y="2724912"/>
            <a:ext cx="3154680" cy="365760"/>
          </a:xfrm>
          <a:prstGeom prst="rect">
            <a:avLst/>
          </a:prstGeom>
          <a:noFill/>
        </p:spPr>
        <p:txBody>
          <a:bodyPr wrap="square" lIns="18288" rIns="18288" tIns="0" bIns="0" anchor="t">
            <a:spAutoFit/>
          </a:bodyPr>
          <a:lstStyle/>
          <a:p>
            <a:pPr>
              <a:spcAft>
                <a:spcPts val="800"/>
              </a:spcAft>
            </a:pPr>
            <a:r>
              <a:rPr sz="2000" b="1">
                <a:solidFill>
                  <a:srgbClr val="1B8077"/>
                </a:solidFill>
                <a:latin typeface="Arial"/>
              </a:rPr>
              <a:t>3  Decide</a:t>
            </a:r>
          </a:p>
        </p:txBody>
      </p:sp>
      <p:sp>
        <p:nvSpPr>
          <p:cNvPr id="15" name="TextBox 14"/>
          <p:cNvSpPr txBox="1"/>
          <p:nvPr/>
        </p:nvSpPr>
        <p:spPr>
          <a:xfrm>
            <a:off x="8430768" y="3273552"/>
            <a:ext cx="3136392" cy="731520"/>
          </a:xfrm>
          <a:prstGeom prst="rect">
            <a:avLst/>
          </a:prstGeom>
          <a:noFill/>
        </p:spPr>
        <p:txBody>
          <a:bodyPr wrap="square" lIns="18288" rIns="18288" tIns="0" bIns="0" anchor="t">
            <a:spAutoFit/>
          </a:bodyPr>
          <a:lstStyle/>
          <a:p>
            <a:pPr>
              <a:spcAft>
                <a:spcPts val="800"/>
              </a:spcAft>
            </a:pPr>
            <a:r>
              <a:rPr sz="1700" b="0">
                <a:solidFill>
                  <a:srgbClr val="102331"/>
                </a:solidFill>
                <a:latin typeface="Arial"/>
              </a:rPr>
              <a:t>Agree the team position and what to watch; carry the cited brief forward.</a:t>
            </a:r>
          </a:p>
        </p:txBody>
      </p:sp>
      <p:sp>
        <p:nvSpPr>
          <p:cNvPr id="16" name="TextBox 15"/>
          <p:cNvSpPr txBox="1"/>
          <p:nvPr/>
        </p:nvSpPr>
        <p:spPr>
          <a:xfrm>
            <a:off x="685800" y="4526280"/>
            <a:ext cx="5212080" cy="320040"/>
          </a:xfrm>
          <a:prstGeom prst="rect">
            <a:avLst/>
          </a:prstGeom>
          <a:noFill/>
        </p:spPr>
        <p:txBody>
          <a:bodyPr wrap="square" lIns="18288" rIns="18288" tIns="0" bIns="0" anchor="t">
            <a:spAutoFit/>
          </a:bodyPr>
          <a:lstStyle/>
          <a:p>
            <a:pPr>
              <a:spcAft>
                <a:spcPts val="800"/>
              </a:spcAft>
            </a:pPr>
            <a:r>
              <a:rPr sz="1900" b="1">
                <a:solidFill>
                  <a:srgbClr val="1B8077"/>
                </a:solidFill>
                <a:latin typeface="Arial"/>
              </a:rPr>
              <a:t>Available in this PoC</a:t>
            </a:r>
          </a:p>
        </p:txBody>
      </p:sp>
      <p:sp>
        <p:nvSpPr>
          <p:cNvPr id="17" name="TextBox 16"/>
          <p:cNvSpPr txBox="1"/>
          <p:nvPr/>
        </p:nvSpPr>
        <p:spPr>
          <a:xfrm>
            <a:off x="685800" y="4983480"/>
            <a:ext cx="5166360" cy="822960"/>
          </a:xfrm>
          <a:prstGeom prst="rect">
            <a:avLst/>
          </a:prstGeom>
          <a:noFill/>
        </p:spPr>
        <p:txBody>
          <a:bodyPr wrap="square" lIns="18288" rIns="18288" tIns="0" bIns="0" anchor="t">
            <a:spAutoFit/>
          </a:bodyPr>
          <a:lstStyle/>
          <a:p>
            <a:pPr>
              <a:spcAft>
                <a:spcPts val="800"/>
              </a:spcAft>
            </a:pPr>
            <a:r>
              <a:rPr sz="1800" b="0">
                <a:solidFill>
                  <a:srgbClr val="102331"/>
                </a:solidFill>
                <a:latin typeface="Arial"/>
              </a:rPr>
              <a:t>On-demand research and refresh, evidence comparison, cited briefs and follow-up questions.</a:t>
            </a:r>
          </a:p>
        </p:txBody>
      </p:sp>
      <p:sp>
        <p:nvSpPr>
          <p:cNvPr id="18" name="TextBox 17"/>
          <p:cNvSpPr txBox="1"/>
          <p:nvPr/>
        </p:nvSpPr>
        <p:spPr>
          <a:xfrm>
            <a:off x="6400800" y="4526280"/>
            <a:ext cx="5120640" cy="320040"/>
          </a:xfrm>
          <a:prstGeom prst="rect">
            <a:avLst/>
          </a:prstGeom>
          <a:noFill/>
        </p:spPr>
        <p:txBody>
          <a:bodyPr wrap="square" lIns="18288" rIns="18288" tIns="0" bIns="0" anchor="t">
            <a:spAutoFit/>
          </a:bodyPr>
          <a:lstStyle/>
          <a:p>
            <a:pPr>
              <a:spcAft>
                <a:spcPts val="800"/>
              </a:spcAft>
            </a:pPr>
            <a:r>
              <a:rPr sz="1900" b="1">
                <a:solidFill>
                  <a:srgbClr val="1B8077"/>
                </a:solidFill>
                <a:latin typeface="Arial"/>
              </a:rPr>
              <a:t>Defined scope</a:t>
            </a:r>
          </a:p>
        </p:txBody>
      </p:sp>
      <p:sp>
        <p:nvSpPr>
          <p:cNvPr id="19" name="TextBox 18"/>
          <p:cNvSpPr txBox="1"/>
          <p:nvPr/>
        </p:nvSpPr>
        <p:spPr>
          <a:xfrm>
            <a:off x="6400800" y="4983480"/>
            <a:ext cx="5074920" cy="822960"/>
          </a:xfrm>
          <a:prstGeom prst="rect">
            <a:avLst/>
          </a:prstGeom>
          <a:noFill/>
        </p:spPr>
        <p:txBody>
          <a:bodyPr wrap="square" lIns="18288" rIns="18288" tIns="0" bIns="0" anchor="t">
            <a:spAutoFit/>
          </a:bodyPr>
          <a:lstStyle/>
          <a:p>
            <a:pPr>
              <a:spcAft>
                <a:spcPts val="800"/>
              </a:spcAft>
            </a:pPr>
            <a:r>
              <a:rPr sz="1800" b="0">
                <a:solidFill>
                  <a:srgbClr val="102331"/>
                </a:solidFill>
                <a:latin typeface="Arial"/>
              </a:rPr>
              <a:t>Accessible sources; human review. Scheduled alerts, private-data connectors and autonomous decisions are outside scope.</a:t>
            </a:r>
          </a:p>
        </p:txBody>
      </p:sp>
      <p:sp>
        <p:nvSpPr>
          <p:cNvPr id="20" name="TextBox 19"/>
          <p:cNvSpPr txBox="1"/>
          <p:nvPr/>
        </p:nvSpPr>
        <p:spPr>
          <a:xfrm>
            <a:off x="685800" y="5989320"/>
            <a:ext cx="10789920" cy="274320"/>
          </a:xfrm>
          <a:prstGeom prst="rect">
            <a:avLst/>
          </a:prstGeom>
          <a:noFill/>
        </p:spPr>
        <p:txBody>
          <a:bodyPr wrap="square" lIns="18288" rIns="18288" tIns="0" bIns="0" anchor="t">
            <a:spAutoFit/>
          </a:bodyPr>
          <a:lstStyle/>
          <a:p>
            <a:pPr>
              <a:spcAft>
                <a:spcPts val="800"/>
              </a:spcAft>
            </a:pPr>
            <a:r>
              <a:rPr sz="1600" b="0">
                <a:solidFill>
                  <a:srgbClr val="52676D"/>
                </a:solidFill>
                <a:latin typeface="Arial"/>
              </a:rPr>
              <a:t>Success measure: time to a usable brief, time to verify a claim and value to the meeting.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London Market Monitor - executive decision brief</dc:title>
  <dc:subject/>
  <dc:creator>London Market Monitor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