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731520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1B8077"/>
                </a:solidFill>
                <a:latin typeface="Aptos"/>
              </a:rPr>
              <a:t>LONDON MARKET MONITOR  /  THE DECISION  ·  LIVE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365760"/>
            <a:ext cx="64008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r"/>
            <a:r>
              <a:rPr sz="900" b="1">
                <a:solidFill>
                  <a:srgbClr val="708087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789920" cy="7315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3000" b="1">
                <a:solidFill>
                  <a:srgbClr val="102331"/>
                </a:solidFill>
                <a:latin typeface="Georgia"/>
              </a:rPr>
              <a:t>What changed — and what does it mean for a lease?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5669280" cy="1371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3200" b="1">
                <a:solidFill>
                  <a:srgbClr val="102331"/>
                </a:solidFill>
                <a:latin typeface="Georgia"/>
              </a:rPr>
              <a:t>Discover reports.
Compare the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931920"/>
            <a:ext cx="5486400" cy="11887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800" b="0">
                <a:solidFill>
                  <a:srgbClr val="708087"/>
                </a:solidFill>
                <a:latin typeface="Aptos"/>
              </a:rPr>
              <a:t>Bring rents, demand, supply and macro context into one research conversation, with the source trail attached.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2011680"/>
            <a:ext cx="4114800" cy="3200400"/>
          </a:xfrm>
          <a:prstGeom prst="rect">
            <a:avLst/>
          </a:prstGeom>
          <a:solidFill>
            <a:srgbClr val="FFFDF8"/>
          </a:solidFill>
          <a:ln>
            <a:solidFill>
              <a:srgbClr val="D7D5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16368" y="2194560"/>
            <a:ext cx="3712463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1B8077"/>
                </a:solidFill>
                <a:latin typeface="Aptos"/>
              </a:rPr>
              <a:t>BUSINESS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16368" y="2633472"/>
            <a:ext cx="3712463" cy="242316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102331"/>
                </a:solidFill>
                <a:latin typeface="Aptos"/>
              </a:rPr>
              <a:t>Where is occupier demand strengthening, and could constrained quality supply change the timing or terms of our next leasing decision?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3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731520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LONDON MARKET MONITOR  /  WORKFLOW  ·  LIVE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365760"/>
            <a:ext cx="64008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r"/>
            <a:r>
              <a:rPr sz="900" b="1">
                <a:solidFill>
                  <a:srgbClr val="A0B4B7"/>
                </a:solidFill>
                <a:latin typeface="Apto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789920" cy="7315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3000" b="1">
                <a:solidFill>
                  <a:srgbClr val="FFFDF8"/>
                </a:solidFill>
                <a:latin typeface="Georgia"/>
              </a:rPr>
              <a:t>One bounded research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03120"/>
            <a:ext cx="1828800" cy="2743200"/>
          </a:xfrm>
          <a:prstGeom prst="rect">
            <a:avLst/>
          </a:prstGeom>
          <a:solidFill>
            <a:srgbClr val="193340"/>
          </a:solidFill>
          <a:ln>
            <a:solidFill>
              <a:srgbClr val="385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1426464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DISCOVER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24912"/>
            <a:ext cx="1426464" cy="196596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F4F1EA"/>
                </a:solidFill>
                <a:latin typeface="Aptos"/>
              </a:rPr>
              <a:t>Find broker, official and developer reports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2103120"/>
            <a:ext cx="1828800" cy="2743200"/>
          </a:xfrm>
          <a:prstGeom prst="rect">
            <a:avLst/>
          </a:prstGeom>
          <a:solidFill>
            <a:srgbClr val="193340"/>
          </a:solidFill>
          <a:ln>
            <a:solidFill>
              <a:srgbClr val="385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64408" y="2286000"/>
            <a:ext cx="1426464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64408" y="2724912"/>
            <a:ext cx="1426464" cy="196596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F4F1EA"/>
                </a:solidFill>
                <a:latin typeface="Aptos"/>
              </a:rPr>
              <a:t>Extract public pages and text PDFs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960" y="2103120"/>
            <a:ext cx="1828800" cy="2743200"/>
          </a:xfrm>
          <a:prstGeom prst="rect">
            <a:avLst/>
          </a:prstGeom>
          <a:solidFill>
            <a:srgbClr val="193340"/>
          </a:solidFill>
          <a:ln>
            <a:solidFill>
              <a:srgbClr val="385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96128" y="2286000"/>
            <a:ext cx="1426464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2724912"/>
            <a:ext cx="1426464" cy="196596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F4F1EA"/>
                </a:solidFill>
                <a:latin typeface="Aptos"/>
              </a:rPr>
              <a:t>Retrieve passages; align definitions and periods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2103120"/>
            <a:ext cx="1828800" cy="2743200"/>
          </a:xfrm>
          <a:prstGeom prst="rect">
            <a:avLst/>
          </a:prstGeom>
          <a:solidFill>
            <a:srgbClr val="193340"/>
          </a:solidFill>
          <a:ln>
            <a:solidFill>
              <a:srgbClr val="385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7848" y="2286000"/>
            <a:ext cx="1426464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EXPLAIN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7848" y="2724912"/>
            <a:ext cx="1426464" cy="196596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F4F1EA"/>
                </a:solidFill>
                <a:latin typeface="Aptos"/>
              </a:rPr>
              <a:t>Separate reported facts from implications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0" y="2103120"/>
            <a:ext cx="1828800" cy="2743200"/>
          </a:xfrm>
          <a:prstGeom prst="rect">
            <a:avLst/>
          </a:prstGeom>
          <a:solidFill>
            <a:srgbClr val="193340"/>
          </a:solidFill>
          <a:ln>
            <a:solidFill>
              <a:srgbClr val="385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59568" y="2286000"/>
            <a:ext cx="1426464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59568" y="2724912"/>
            <a:ext cx="1426464" cy="196596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F4F1EA"/>
                </a:solidFill>
                <a:latin typeface="Aptos"/>
              </a:rPr>
              <a:t>Open citations and inspect missing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349240"/>
            <a:ext cx="10515600" cy="59436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300" b="0">
                <a:solidFill>
                  <a:srgbClr val="AEC8C6"/>
                </a:solidFill>
                <a:latin typeface="Aptos"/>
              </a:rPr>
              <a:t>z.ai chooses tools • Firecrawl reads sources • FastEmbed + Qdrant retrieves • SQLite preserves observations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731520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1B8077"/>
                </a:solidFill>
                <a:latin typeface="Aptos"/>
              </a:rPr>
              <a:t>LONDON MARKET MONITOR  /  LIVE CHECK  ·  LIVE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365760"/>
            <a:ext cx="64008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r"/>
            <a:r>
              <a:rPr sz="900" b="1">
                <a:solidFill>
                  <a:srgbClr val="708087"/>
                </a:solidFill>
                <a:latin typeface="Apto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789920" cy="7315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3000" b="1">
                <a:solidFill>
                  <a:srgbClr val="102331"/>
                </a:solidFill>
                <a:latin typeface="Georgia"/>
              </a:rPr>
              <a:t>A recorded run, with its limits visible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6400800" cy="3566160"/>
          </a:xfrm>
          <a:prstGeom prst="rect">
            <a:avLst/>
          </a:prstGeom>
          <a:solidFill>
            <a:srgbClr val="FFFDF8"/>
          </a:solidFill>
          <a:ln>
            <a:solidFill>
              <a:srgbClr val="D7D5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03120"/>
            <a:ext cx="5998464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1B8077"/>
                </a:solidFill>
                <a:latin typeface="Aptos"/>
              </a:rPr>
              <a:t>ACTUAL MODEL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42032"/>
            <a:ext cx="5998464" cy="27889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102331"/>
                </a:solidFill>
                <a:latin typeface="Aptos"/>
              </a:rPr>
              <a:t>Per the stored JLL 'Central London Office Market Dynamics Q2 2026' report, take-up reached 2.6 million sq.ft. in Q2 2026, up 15% quarter-on-quarter and above the 10-year average, led by a strong West End performance.
Implication: with take-up above its 10-year average while supply shrinks and the construction pipeline thins, occupiers with defined requirements may benefit from starting searches and committing earlier, as choice and negotiating leverage could diminish.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1920240"/>
            <a:ext cx="3931920" cy="3566160"/>
          </a:xfrm>
          <a:prstGeom prst="rect">
            <a:avLst/>
          </a:prstGeom>
          <a:solidFill>
            <a:srgbClr val="FFFDF8"/>
          </a:solidFill>
          <a:ln>
            <a:solidFill>
              <a:srgbClr val="D7D5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99248" y="2103120"/>
            <a:ext cx="3529584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1B8077"/>
                </a:solidFill>
                <a:latin typeface="Aptos"/>
              </a:rPr>
              <a:t>EVIDENCE TRAIL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9248" y="2542032"/>
            <a:ext cx="3529584" cy="27889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102331"/>
                </a:solidFill>
                <a:latin typeface="Aptos"/>
              </a:rPr>
              <a:t>1 cited source(s) · incomplete
search_web
query_market_metrics
search_market_evidence
Directly ingested public report. Local vector check. Firecrawl was not used in this 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897880"/>
            <a:ext cx="10607040" cy="4572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000" b="0">
                <a:solidFill>
                  <a:srgbClr val="708087"/>
                </a:solidFill>
                <a:latin typeface="Aptos"/>
              </a:rPr>
              <a:t>Source: https://www.jll.com/en-uk/insights/market-dynamics/central-london-office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3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731520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LONDON MARKET MONITOR  /  CHANGE BRIEFING  ·  LIVE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365760"/>
            <a:ext cx="64008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r"/>
            <a:r>
              <a:rPr sz="900" b="1">
                <a:solidFill>
                  <a:srgbClr val="A0B4B7"/>
                </a:solidFill>
                <a:latin typeface="Apto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789920" cy="7315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3000" b="1">
                <a:solidFill>
                  <a:srgbClr val="FFFDF8"/>
                </a:solidFill>
                <a:latin typeface="Georgia"/>
              </a:rPr>
              <a:t>Separate a changed market from a changed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65960"/>
            <a:ext cx="4892040" cy="1645920"/>
          </a:xfrm>
          <a:prstGeom prst="rect">
            <a:avLst/>
          </a:prstGeom>
          <a:solidFill>
            <a:srgbClr val="193340"/>
          </a:solidFill>
          <a:ln>
            <a:solidFill>
              <a:srgbClr val="385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48840"/>
            <a:ext cx="4489703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NEW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87752"/>
            <a:ext cx="4489703" cy="86868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F4F1EA"/>
                </a:solidFill>
                <a:latin typeface="Aptos"/>
              </a:rPr>
              <a:t>Discoveries establish coverage; they do not alone prove market movement.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4892040" cy="1645920"/>
          </a:xfrm>
          <a:prstGeom prst="rect">
            <a:avLst/>
          </a:prstGeom>
          <a:solidFill>
            <a:srgbClr val="193340"/>
          </a:solidFill>
          <a:ln>
            <a:solidFill>
              <a:srgbClr val="385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7" y="2148840"/>
            <a:ext cx="4489703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REVISED CONTENT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7" y="2587752"/>
            <a:ext cx="4489703" cy="86868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F4F1EA"/>
                </a:solidFill>
                <a:latin typeface="Aptos"/>
              </a:rPr>
              <a:t>Same URL, different checksum: retain both versions and source IDs.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749039"/>
            <a:ext cx="4892040" cy="1645920"/>
          </a:xfrm>
          <a:prstGeom prst="rect">
            <a:avLst/>
          </a:prstGeom>
          <a:solidFill>
            <a:srgbClr val="193340"/>
          </a:solidFill>
          <a:ln>
            <a:solidFill>
              <a:srgbClr val="385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931920"/>
            <a:ext cx="4489703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COMPARABLE CHANGE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0831"/>
            <a:ext cx="4489703" cy="86868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F4F1EA"/>
                </a:solidFill>
                <a:latin typeface="Aptos"/>
              </a:rPr>
              <a:t>Match units, periods and definitions; calculate differences in code.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749039"/>
            <a:ext cx="4892040" cy="1645920"/>
          </a:xfrm>
          <a:prstGeom prst="rect">
            <a:avLst/>
          </a:prstGeom>
          <a:solidFill>
            <a:srgbClr val="193340"/>
          </a:solidFill>
          <a:ln>
            <a:solidFill>
              <a:srgbClr val="385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7" y="3931920"/>
            <a:ext cx="4489703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BUSINESS IMPLICATION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7" y="4370831"/>
            <a:ext cx="4489703" cy="86868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F4F1EA"/>
                </a:solidFill>
                <a:latin typeface="Aptos"/>
              </a:rPr>
              <a:t>Qualify timing and supply risks; expose disagreement and collection gaps.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731520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1B8077"/>
                </a:solidFill>
                <a:latin typeface="Aptos"/>
              </a:rPr>
              <a:t>LONDON MARKET MONITOR  /  READINESS  ·  LIVE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365760"/>
            <a:ext cx="64008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r"/>
            <a:r>
              <a:rPr sz="900" b="1">
                <a:solidFill>
                  <a:srgbClr val="708087"/>
                </a:solidFill>
                <a:latin typeface="Apto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789920" cy="7315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3000" b="1">
                <a:solidFill>
                  <a:srgbClr val="102331"/>
                </a:solidFill>
                <a:latin typeface="Georgia"/>
              </a:rPr>
              <a:t>Implemented; full live readiness still needs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3337560" cy="3474720"/>
          </a:xfrm>
          <a:prstGeom prst="rect">
            <a:avLst/>
          </a:prstGeom>
          <a:solidFill>
            <a:srgbClr val="FFFDF8"/>
          </a:solidFill>
          <a:ln>
            <a:solidFill>
              <a:srgbClr val="D7D5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03120"/>
            <a:ext cx="2935224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1B8077"/>
                </a:solidFill>
                <a:latin typeface="Aptos"/>
              </a:rPr>
              <a:t>DELIVERED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42032"/>
            <a:ext cx="2935224" cy="2697479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102331"/>
                </a:solidFill>
                <a:latin typeface="Aptos"/>
              </a:rPr>
              <a:t>Tool-driven chat
Semantic evidence
Manual refresh + briefing
Source versions + citations
Explicit demo isolation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920240"/>
            <a:ext cx="3337560" cy="3474720"/>
          </a:xfrm>
          <a:prstGeom prst="rect">
            <a:avLst/>
          </a:prstGeom>
          <a:solidFill>
            <a:srgbClr val="FFFDF8"/>
          </a:solidFill>
          <a:ln>
            <a:solidFill>
              <a:srgbClr val="D7D5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7" y="2103120"/>
            <a:ext cx="2935224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1B8077"/>
                </a:solidFill>
                <a:latin typeface="Aptos"/>
              </a:rPr>
              <a:t>VERIFIED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7" y="2542032"/>
            <a:ext cx="2935224" cy="2697479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102331"/>
                </a:solidFill>
                <a:latin typeface="Aptos"/>
              </a:rPr>
              <a:t>Automated grounding tests
Deterministic evaluation
Real model tool calls
Real semantic retrieval
Compose configuration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920240"/>
            <a:ext cx="3337560" cy="3474720"/>
          </a:xfrm>
          <a:prstGeom prst="rect">
            <a:avLst/>
          </a:prstGeom>
          <a:solidFill>
            <a:srgbClr val="FFFDF8"/>
          </a:solidFill>
          <a:ln>
            <a:solidFill>
              <a:srgbClr val="D7D5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9328" y="2103120"/>
            <a:ext cx="2935224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1B8077"/>
                </a:solidFill>
                <a:latin typeface="Aptos"/>
              </a:rPr>
              <a:t>REMAINING BLOCKER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542032"/>
            <a:ext cx="2935224" cy="2697479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102331"/>
                </a:solidFill>
                <a:latin typeface="Aptos"/>
              </a:rPr>
              <a:t>Free host disk capacity and restore Docker health.
Then verify Firecrawl search + scrape, full Compose startup and persistence.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