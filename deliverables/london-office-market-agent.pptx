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LONDON MARKET MONITOR  /  THE BRIEF  ·  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6400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900" b="1">
                <a:solidFill>
                  <a:srgbClr val="708087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102331"/>
                </a:solidFill>
                <a:latin typeface="Georgia"/>
              </a:rPr>
              <a:t>London office decisions need a trusted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943600" cy="12801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200" b="1">
                <a:solidFill>
                  <a:srgbClr val="102331"/>
                </a:solidFill>
                <a:latin typeface="Georgia"/>
              </a:rPr>
              <a:t>The question is rarely
just a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49039"/>
            <a:ext cx="530352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>
                <a:solidFill>
                  <a:srgbClr val="708087"/>
                </a:solidFill>
                <a:latin typeface="Aptos"/>
              </a:rPr>
              <a:t>Teams need a current view of rents, vacancy, supply and macro context — with the evidence trail attached.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011680"/>
            <a:ext cx="4160520" cy="292608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2194560"/>
            <a:ext cx="3758183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633472"/>
            <a:ext cx="3758183" cy="21488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A local-first monitor that turns a plain-language question into a concise answer, metrics, citations and a run trace.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LONDON MARKET MONITOR  /  THE PRODUCT  ·  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6400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900" b="1">
                <a:solidFill>
                  <a:srgbClr val="A0B4B7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FFFDF8"/>
                </a:solidFill>
                <a:latin typeface="Georgia"/>
              </a:rPr>
              <a:t>One path from question to grounded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1828800" cy="228600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40280"/>
            <a:ext cx="142646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1426464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Plain-language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2057400"/>
            <a:ext cx="1828800" cy="228600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2240280"/>
            <a:ext cx="142646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679192"/>
            <a:ext cx="1426464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Skills + typed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057400"/>
            <a:ext cx="1828800" cy="228600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2240280"/>
            <a:ext cx="142646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2679192"/>
            <a:ext cx="1426464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SQLite + lexical 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2057400"/>
            <a:ext cx="1828800" cy="228600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240280"/>
            <a:ext cx="142646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2679192"/>
            <a:ext cx="1426464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Source IDs + citations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2057400"/>
            <a:ext cx="1828800" cy="228600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59568" y="2240280"/>
            <a:ext cx="142646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9568" y="2679192"/>
            <a:ext cx="1426464" cy="1508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UI, API or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515600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AEC8C6"/>
                </a:solidFill>
                <a:latin typeface="Aptos"/>
              </a:rPr>
              <a:t>Question  →  intent and skill routing  →  market data + evidence  →  grounded answer with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LONDON MARKET MONITOR  /  EXAMPLE WORKFLOW  ·  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6400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900" b="1">
                <a:solidFill>
                  <a:srgbClr val="708087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102331"/>
                </a:solidFill>
                <a:latin typeface="Georgia"/>
              </a:rPr>
              <a:t>“What is happening to prime rents in the City?”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291840" cy="324612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288950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1  RETRIEVE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42032"/>
            <a:ext cx="2889504" cy="246887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Metric query
City · prime_rent
Latest stored period
Evidence search
City + current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20240"/>
            <a:ext cx="3291840" cy="324612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103120"/>
            <a:ext cx="288950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2  COMBINE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542032"/>
            <a:ext cx="2889504" cy="246887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City prime rent: 85 GBP/sq ft/year (2026-Q1)
Evidence snapshot: stored demo data, not a live feed.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291840" cy="324612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103120"/>
            <a:ext cx="288950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3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42032"/>
            <a:ext cx="2889504" cy="246887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Answer with [1] citations
Publisher + date + URL
Trace: metrics · evidence · verify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LONDON MARKET MONITOR  /  TRUST  ·  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6400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900" b="1">
                <a:solidFill>
                  <a:srgbClr val="A0B4B7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FFFDF8"/>
                </a:solidFill>
                <a:latin typeface="Georgia"/>
              </a:rPr>
              <a:t>Reliability is part of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4892040" cy="141732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48840"/>
            <a:ext cx="4489703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TYPED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87752"/>
            <a:ext cx="4489703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Pydantic contracts at every 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65960"/>
            <a:ext cx="4892040" cy="141732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2148840"/>
            <a:ext cx="4489703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BOUNDED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587752"/>
            <a:ext cx="4489703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Parameterized, limited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4892040" cy="141732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40480"/>
            <a:ext cx="4489703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GROUNDED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79392"/>
            <a:ext cx="4489703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Unknown claims are rejected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657600"/>
            <a:ext cx="4892040" cy="1417320"/>
          </a:xfrm>
          <a:prstGeom prst="rect">
            <a:avLst/>
          </a:prstGeom>
          <a:solidFill>
            <a:srgbClr val="193340"/>
          </a:solidFill>
          <a:ln>
            <a:solidFill>
              <a:srgbClr val="385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3840480"/>
            <a:ext cx="4489703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A4D4CD"/>
                </a:solidFill>
                <a:latin typeface="Aptos"/>
              </a:rPr>
              <a:t>TRANSPARENT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279392"/>
            <a:ext cx="4489703" cy="6400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F4F1EA"/>
                </a:solidFill>
                <a:latin typeface="Aptos"/>
              </a:rPr>
              <a:t>Warnings, trace and demo 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731520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LONDON MARKET MONITOR  /  NEXT  ·  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640080" cy="228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r"/>
            <a:r>
              <a:rPr sz="900" b="1">
                <a:solidFill>
                  <a:srgbClr val="708087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78992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>
                <a:solidFill>
                  <a:srgbClr val="102331"/>
                </a:solidFill>
                <a:latin typeface="Georgia"/>
              </a:rPr>
              <a:t>A focused PoC with a clear production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337560" cy="320040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293522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TODAY ·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42032"/>
            <a:ext cx="2935224" cy="24231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Offline by default
Synthetic seed data
Hashed lexical vectors
One local worker
Text ingestion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920240"/>
            <a:ext cx="3337560" cy="320040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103120"/>
            <a:ext cx="293522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NEXT · HARDEN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542032"/>
            <a:ext cx="2935224" cy="24231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Curated connectors
Freshness SLAs
Stronger embeddings
Server storage
Access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337560" cy="3200400"/>
          </a:xfrm>
          <a:prstGeom prst="rect">
            <a:avLst/>
          </a:prstGeom>
          <a:solidFill>
            <a:srgbClr val="FFFDF8"/>
          </a:solidFill>
          <a:ln>
            <a:solidFill>
              <a:srgbClr val="D7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103120"/>
            <a:ext cx="2935224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900" b="1">
                <a:solidFill>
                  <a:srgbClr val="1B8077"/>
                </a:solidFill>
                <a:latin typeface="Aptos"/>
              </a:rPr>
              <a:t>MEASURE · 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42032"/>
            <a:ext cx="2935224" cy="24231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0">
                <a:solidFill>
                  <a:srgbClr val="102331"/>
                </a:solidFill>
                <a:latin typeface="Aptos"/>
              </a:rPr>
              <a:t>Citation coverage
Retrieval relevance
Latency by route
Provider fallback
User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