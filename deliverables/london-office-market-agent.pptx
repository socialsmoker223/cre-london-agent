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LONDON MARKET MONITOR  /  THE PROBLEM  ·  MARKET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708087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102331"/>
                </a:solidFill>
                <a:latin typeface="Georgia"/>
              </a:rPr>
              <a:t>Too much reading. Too little time to interpret.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577840" cy="155448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100" b="1">
                <a:solidFill>
                  <a:srgbClr val="102331"/>
                </a:solidFill>
                <a:latin typeface="Georgia"/>
              </a:rPr>
              <a:t>Reports, headlines, macro data.
One decision to prepare for.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977639"/>
            <a:ext cx="5394960" cy="11887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800" b="0">
                <a:solidFill>
                  <a:srgbClr val="708087"/>
                </a:solidFill>
                <a:latin typeface="Aptos"/>
              </a:rPr>
              <a:t>Teams repeatedly find reports, reconcile periods and rebuild the same evidence trail. The important change can be buried in a familiar market summary.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2011680"/>
            <a:ext cx="4572000" cy="338328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9168" y="2194560"/>
            <a:ext cx="416966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THE BUSINESS 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9168" y="2633472"/>
            <a:ext cx="4169663" cy="26060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Move from raw information to important changes, plausible drivers and implications worth investigating.
Bring the evidence into the meeting, with the uncertainty intact.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LONDON MARKET MONITOR  /  THE WORKFLOW  ·  MARKET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A0B4B7"/>
                </a:solidFill>
                <a:latin typeface="Apto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FFFDF8"/>
                </a:solidFill>
                <a:latin typeface="Georgia"/>
              </a:rPr>
              <a:t>Ask what changed. Leave ready to discuss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337560" cy="32918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9456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MONITOR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33472"/>
            <a:ext cx="2935224" cy="2514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What happened since I last checked?
Material movements, new evidence and changing risks, compared with an explicit baseline.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2011680"/>
            <a:ext cx="3337560" cy="32918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219456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2633472"/>
            <a:ext cx="2935224" cy="2514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I heard West End is outperforming City. Is it true?
Test the claim across rents, vacancy, demand, supply and commentary.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011680"/>
            <a:ext cx="3337560" cy="32918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219456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PREPARE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633472"/>
            <a:ext cx="2935224" cy="2514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What belongs in my meeting brief?
Up to five developments, their business implications and the sources to verify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698480" cy="548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Follow the thread: expand a point  →  inspect the evidence  →  compare last quarter  →  decide what to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LONDON MARKET MONITOR  /  EXAMPLE INVESTIGATION  ·  MARKET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708087"/>
                </a:solidFill>
                <a:latin typeface="Apto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102331"/>
                </a:solidFill>
                <a:latin typeface="Georgia"/>
              </a:rPr>
              <a:t>Is West End outperforming City?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5074920" cy="361188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48840"/>
            <a:ext cx="467258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TEST 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87752"/>
            <a:ext cx="4672583" cy="2834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Rents: compare growth, not just rent levels.
Vacancy: align coverage and Grade A definitions.
Take-up: compare the same reporting periods.
Supply: distinguish future space from pre-lets.
Commentary + macro: look for drivers and counterevidence.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965960"/>
            <a:ext cx="5212080" cy="361188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148840"/>
            <a:ext cx="480974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A USEFUL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587752"/>
            <a:ext cx="4809744" cy="283464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Supported · Partially supported
Not supported · Insufficient evidence
Explain which indicators support the claim, which challenge it and what is missing. Keep facts separate from interpretation.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806440"/>
            <a:ext cx="10698480" cy="5029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200" b="0">
                <a:solidFill>
                  <a:srgbClr val="708087"/>
                </a:solidFill>
                <a:latin typeface="Aptos"/>
              </a:rPr>
              <a:t>Investigation design shown here; this slide does not assert a current market verdict.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LONDON MARKET MONITOR  /  TRUST  ·  MARKET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A0B4B7"/>
                </a:solidFill>
                <a:latin typeface="Apto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FFFDF8"/>
                </a:solidFill>
                <a:latin typeface="Georgia"/>
              </a:rPr>
              <a:t>Every important claim has a trail back to evidence.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4892040" cy="16916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4884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SHOW THE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87752"/>
            <a:ext cx="4489703" cy="9144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Source values, units and reporting periods alongside derived deltas. Transparent screening thresholds.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4892040" cy="16916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7" y="214884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KEEP DISAGREEMENT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587752"/>
            <a:ext cx="4489703" cy="9144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Different numbers, definitions or dates remain visible. Conflicting reports are never averaged into one answer.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4892040" cy="16916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97764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EXPLAIN POSSIBLE DRIVERS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16552"/>
            <a:ext cx="4489703" cy="9144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Cited facts are separate from interpretation. Consistency and correlation are not proof of causation.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794760"/>
            <a:ext cx="4892040" cy="1691640"/>
          </a:xfrm>
          <a:prstGeom prst="rect">
            <a:avLst/>
          </a:prstGeom>
          <a:solidFill>
            <a:srgbClr val="193340"/>
          </a:solidFill>
          <a:ln>
            <a:solidFill>
              <a:srgbClr val="3854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3977640"/>
            <a:ext cx="4489703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A4D4CD"/>
                </a:solidFill>
                <a:latin typeface="Aptos"/>
              </a:rPr>
              <a:t>MAKE VERIFICATION QUICK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7" y="4416552"/>
            <a:ext cx="4489703" cy="9144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F4F1EA"/>
                </a:solidFill>
                <a:latin typeface="Aptos"/>
              </a:rPr>
              <a:t>Open the publisher, title, date, URL and relevant passage. Missing evidence stays visible, including unsupported forecasts.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731520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LONDON MARKET MONITOR  /  FROM POC TO PRACTICE  ·  MARKET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65760"/>
            <a:ext cx="640080" cy="22860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r"/>
            <a:r>
              <a:rPr sz="900" b="1">
                <a:solidFill>
                  <a:srgbClr val="708087"/>
                </a:solidFill>
                <a:latin typeface="Apto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789920" cy="7315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3000" b="1">
                <a:solidFill>
                  <a:srgbClr val="102331"/>
                </a:solidFill>
                <a:latin typeface="Georgia"/>
              </a:rPr>
              <a:t>Prove the research workflow. Then automate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3337560" cy="356616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14884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POC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587752"/>
            <a:ext cx="2935224" cy="27889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On-demand market briefs
Hypothesis investigations
Source-backed watchlists
Manual evidence refresh
Implications to investigate, not investment recommendations.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65960"/>
            <a:ext cx="3337560" cy="356616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214884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MEASURE THE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2587752"/>
            <a:ext cx="2935224" cy="27889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Time to a usable meeting brief
Time to verify a claim
Material developments found
Missing or disputed evidence exposed
Compare with the team's manual research baseline; no savings are claimed yet.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965960"/>
            <a:ext cx="3337560" cy="3566160"/>
          </a:xfrm>
          <a:prstGeom prst="rect">
            <a:avLst/>
          </a:prstGeom>
          <a:solidFill>
            <a:srgbClr val="FFFDF8"/>
          </a:solidFill>
          <a:ln>
            <a:solidFill>
              <a:srgbClr val="D7D5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39328" y="2148840"/>
            <a:ext cx="2935224" cy="2743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900" b="1">
                <a:solidFill>
                  <a:srgbClr val="1B8077"/>
                </a:solidFill>
                <a:latin typeface="Aptos"/>
              </a:rPr>
              <a:t>NEXT, AFTER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87752"/>
            <a:ext cx="2935224" cy="2788920"/>
          </a:xfrm>
          <a:prstGeom prst="rect">
            <a:avLst/>
          </a:prstGeom>
          <a:noFill/>
        </p:spPr>
        <p:txBody>
          <a:bodyPr wrap="square" lIns="18288" rIns="18288" anchor="t">
            <a:spAutoFit/>
          </a:bodyPr>
          <a:lstStyle/>
          <a:p>
            <a:pPr algn="l"/>
            <a:r>
              <a:rPr sz="1500" b="0">
                <a:solidFill>
                  <a:srgbClr val="102331"/>
                </a:solidFill>
                <a:latin typeface="Aptos"/>
              </a:rPr>
              <a:t>Automated monitoring
Material-change alerts
Private reports and leasing data
Team-specific watchlists
Prioritize additions using observed workflow needs.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